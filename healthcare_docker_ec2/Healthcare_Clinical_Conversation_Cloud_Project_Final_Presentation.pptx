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6"/>
  </p:normalViewPr>
  <p:slideViewPr>
    <p:cSldViewPr snapToGrid="0">
      <p:cViewPr varScale="1">
        <p:scale>
          <a:sx n="101" d="100"/>
          <a:sy n="101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E49E690-58ED-4C3C-B5C5-24AB1FFC60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B69A0E-957B-4F96-8A17-344047A1E1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6B978C-AAB9-4F55-954F-D1339DC494C7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47625" cy="685800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58CE8-A7B7-4389-83E7-93656113A76C}"/>
              </a:ext>
            </a:extLst>
          </p:cNvPr>
          <p:cNvSpPr>
            <a:spLocks noGrp="1"/>
          </p:cNvSpPr>
          <p:nvPr/>
        </p:nvSpPr>
        <p:spPr>
          <a:xfrm>
            <a:off x="781050" y="7048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FINAL PROJECT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6E847A-705B-4B42-B71C-BA451A2E32AA}"/>
              </a:ext>
            </a:extLst>
          </p:cNvPr>
          <p:cNvSpPr>
            <a:spLocks noGrp="1"/>
          </p:cNvSpPr>
          <p:nvPr/>
        </p:nvSpPr>
        <p:spPr>
          <a:xfrm>
            <a:off x="552450" y="1762125"/>
            <a:ext cx="68580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Cloud-Based Healthcare Clinical Conversation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78567-BDF1-4E76-81E3-1BF51C1DAEE3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6858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 deployed AI pipeline for turning doctor-patient conversations into transcription, sentiment, entities, summaries, and transcript-based Q&amp;A.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F47BE5-0A82-4094-8E92-AD8420F01BE4}"/>
              </a:ext>
            </a:extLst>
          </p:cNvPr>
          <p:cNvSpPr>
            <a:spLocks noGrp="1"/>
          </p:cNvSpPr>
          <p:nvPr/>
        </p:nvSpPr>
        <p:spPr>
          <a:xfrm>
            <a:off x="8096250" y="914400"/>
            <a:ext cx="2990850" cy="377190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8B1A2A-A89C-4BA8-80F6-981DBE71DD2F}"/>
              </a:ext>
            </a:extLst>
          </p:cNvPr>
          <p:cNvSpPr>
            <a:spLocks noGrp="1"/>
          </p:cNvSpPr>
          <p:nvPr/>
        </p:nvSpPr>
        <p:spPr>
          <a:xfrm>
            <a:off x="8420100" y="1257300"/>
            <a:ext cx="2333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BBD8CF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BBD8CF"/>
                </a:solidFill>
                <a:latin typeface="Avenir Next"/>
                <a:ea typeface="Avenir Next"/>
                <a:cs typeface="Avenir Next"/>
              </a:rPr>
              <a:t>PROJECT OUTCOME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9E8D52-A113-4991-BEEC-B2269F94916D}"/>
              </a:ext>
            </a:extLst>
          </p:cNvPr>
          <p:cNvSpPr>
            <a:spLocks noGrp="1"/>
          </p:cNvSpPr>
          <p:nvPr/>
        </p:nvSpPr>
        <p:spPr>
          <a:xfrm>
            <a:off x="8420100" y="1866900"/>
            <a:ext cx="236220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Streamlit app</a:t>
            </a:r>
          </a:p>
          <a:p>
            <a:pPr algn="ctr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packaged for</a:t>
            </a:r>
          </a:p>
          <a:p>
            <a:pPr algn="ctr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Docker + AWS EC2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1EF785-C933-43FD-8FAF-40ED471154B5}"/>
              </a:ext>
            </a:extLst>
          </p:cNvPr>
          <p:cNvSpPr>
            <a:spLocks noGrp="1"/>
          </p:cNvSpPr>
          <p:nvPr/>
        </p:nvSpPr>
        <p:spPr>
          <a:xfrm>
            <a:off x="8572500" y="3638550"/>
            <a:ext cx="2057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CFE2DC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CFE2DC"/>
                </a:solidFill>
                <a:latin typeface="Avenir Next"/>
                <a:ea typeface="Avenir Next"/>
                <a:cs typeface="Avenir Next"/>
              </a:rPr>
              <a:t>Prototype uses synthetic or de-identified conversations only.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2863B-4D1E-42AD-BF0C-B1D501863695}"/>
              </a:ext>
            </a:extLst>
          </p:cNvPr>
          <p:cNvSpPr>
            <a:spLocks noGrp="1"/>
          </p:cNvSpPr>
          <p:nvPr/>
        </p:nvSpPr>
        <p:spPr>
          <a:xfrm>
            <a:off x="552450" y="5048250"/>
            <a:ext cx="2333625" cy="2857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D833-4200-4D87-9001-7AAB0FACAA5B}"/>
              </a:ext>
            </a:extLst>
          </p:cNvPr>
          <p:cNvSpPr>
            <a:spLocks noGrp="1"/>
          </p:cNvSpPr>
          <p:nvPr/>
        </p:nvSpPr>
        <p:spPr>
          <a:xfrm>
            <a:off x="552450" y="5200650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DB4C7A-0448-4A18-B7E7-1E61FF667873}"/>
              </a:ext>
            </a:extLst>
          </p:cNvPr>
          <p:cNvSpPr>
            <a:spLocks noGrp="1"/>
          </p:cNvSpPr>
          <p:nvPr/>
        </p:nvSpPr>
        <p:spPr>
          <a:xfrm>
            <a:off x="552450" y="5638800"/>
            <a:ext cx="2333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AI/NLP LAYERS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15C07D-A566-4A75-B449-A779A8E2365C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Whisper, VADER, spaCy, ML, embeddings, LLM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0C03DF-EBA3-4186-AF23-2A824F5761A0}"/>
              </a:ext>
            </a:extLst>
          </p:cNvPr>
          <p:cNvSpPr>
            <a:spLocks noGrp="1"/>
          </p:cNvSpPr>
          <p:nvPr/>
        </p:nvSpPr>
        <p:spPr>
          <a:xfrm>
            <a:off x="3333750" y="5048250"/>
            <a:ext cx="2095500" cy="28575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8CA1E9-175C-420C-BCEA-0F33F849A60C}"/>
              </a:ext>
            </a:extLst>
          </p:cNvPr>
          <p:cNvSpPr>
            <a:spLocks noGrp="1"/>
          </p:cNvSpPr>
          <p:nvPr/>
        </p:nvSpPr>
        <p:spPr>
          <a:xfrm>
            <a:off x="3333750" y="520065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580C1D-6770-4792-8712-78C428A7C264}"/>
              </a:ext>
            </a:extLst>
          </p:cNvPr>
          <p:cNvSpPr>
            <a:spLocks noGrp="1"/>
          </p:cNvSpPr>
          <p:nvPr/>
        </p:nvSpPr>
        <p:spPr>
          <a:xfrm>
            <a:off x="3333750" y="56388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INPUT MODES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6DAA05-BF56-49E3-BE69-F88709D2585E}"/>
              </a:ext>
            </a:extLst>
          </p:cNvPr>
          <p:cNvSpPr>
            <a:spLocks noGrp="1"/>
          </p:cNvSpPr>
          <p:nvPr/>
        </p:nvSpPr>
        <p:spPr>
          <a:xfrm>
            <a:off x="3333750" y="58293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Text and MP3 clinical conversations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7D0F39-74DF-4CB7-8DEA-2FAC27A7D595}"/>
              </a:ext>
            </a:extLst>
          </p:cNvPr>
          <p:cNvSpPr>
            <a:spLocks noGrp="1"/>
          </p:cNvSpPr>
          <p:nvPr/>
        </p:nvSpPr>
        <p:spPr>
          <a:xfrm>
            <a:off x="5905500" y="5048250"/>
            <a:ext cx="2190750" cy="2857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DF16E6-749C-4D0B-B771-A17EBCF87D37}"/>
              </a:ext>
            </a:extLst>
          </p:cNvPr>
          <p:cNvSpPr>
            <a:spLocks noGrp="1"/>
          </p:cNvSpPr>
          <p:nvPr/>
        </p:nvSpPr>
        <p:spPr>
          <a:xfrm>
            <a:off x="5905500" y="52006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DD7C50-4433-4821-8D11-B223B337D5EE}"/>
              </a:ext>
            </a:extLst>
          </p:cNvPr>
          <p:cNvSpPr>
            <a:spLocks noGrp="1"/>
          </p:cNvSpPr>
          <p:nvPr/>
        </p:nvSpPr>
        <p:spPr>
          <a:xfrm>
            <a:off x="5905500" y="56388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CLOUD TARGET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77A85-18A1-44BC-9BD4-5C440BEBDA9A}"/>
              </a:ext>
            </a:extLst>
          </p:cNvPr>
          <p:cNvSpPr>
            <a:spLocks noGrp="1"/>
          </p:cNvSpPr>
          <p:nvPr/>
        </p:nvSpPr>
        <p:spPr>
          <a:xfrm>
            <a:off x="5905500" y="58293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AWS EC2 container deployment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9549C5-8C06-4FE1-AD37-5D27A9194E34}"/>
              </a:ext>
            </a:extLst>
          </p:cNvPr>
          <p:cNvSpPr>
            <a:spLocks noGrp="1"/>
          </p:cNvSpPr>
          <p:nvPr/>
        </p:nvSpPr>
        <p:spPr>
          <a:xfrm>
            <a:off x="8524875" y="5048250"/>
            <a:ext cx="2381250" cy="2857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5BC389-50E9-40D4-8FF5-8370054F6956}"/>
              </a:ext>
            </a:extLst>
          </p:cNvPr>
          <p:cNvSpPr>
            <a:spLocks noGrp="1"/>
          </p:cNvSpPr>
          <p:nvPr/>
        </p:nvSpPr>
        <p:spPr>
          <a:xfrm>
            <a:off x="8524875" y="52006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Live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329898-7BF7-46D2-8247-C74D312B7025}"/>
              </a:ext>
            </a:extLst>
          </p:cNvPr>
          <p:cNvSpPr>
            <a:spLocks noGrp="1"/>
          </p:cNvSpPr>
          <p:nvPr/>
        </p:nvSpPr>
        <p:spPr>
          <a:xfrm>
            <a:off x="8524875" y="56388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DEMO PATH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B57286-531C-401B-8247-54E106C72411}"/>
              </a:ext>
            </a:extLst>
          </p:cNvPr>
          <p:cNvSpPr>
            <a:spLocks noGrp="1"/>
          </p:cNvSpPr>
          <p:nvPr/>
        </p:nvSpPr>
        <p:spPr>
          <a:xfrm>
            <a:off x="8524875" y="58293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Browser-accessible Streamlit interface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0C790E-90C5-4288-B4FB-0DFC684D660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8C68F0-A162-4655-9F31-E510D748D786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189F27-5AB7-480B-B854-D4622282563E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136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CB85CF6-E641-45CC-8ACF-1E6237746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DD6BB4-F0DE-4DA8-9659-55DC3E920C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>
              <a:ext uri="{FF2B5EF4-FFF2-40B4-BE49-F238E27FC236}">
                <a16:creationId xmlns:a16="http://schemas.microsoft.com/office/drawing/2014/main" id="{1DB587EA-F50A-494A-8397-A85DA4CC1396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>
              <a:ext uri="{FF2B5EF4-FFF2-40B4-BE49-F238E27FC236}">
                <a16:creationId xmlns:a16="http://schemas.microsoft.com/office/drawing/2014/main" id="{96BA00F4-C23A-42F0-92C8-3A1C0212C6D6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7DE488-47F0-4487-8D9B-979C84E3DE2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Clinical conversations contain high-value signals, but most of them stay unstructured.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3EB78-5461-463D-BB0C-4B9D5A2ED65C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The project targets the gap between spoken clinical encounters and usable healthcare intelligence.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89C6C-0642-43C5-BC12-BD31311B7B6C}"/>
              </a:ext>
            </a:extLst>
          </p:cNvPr>
          <p:cNvSpPr>
            <a:spLocks noGrp="1"/>
          </p:cNvSpPr>
          <p:nvPr/>
        </p:nvSpPr>
        <p:spPr>
          <a:xfrm>
            <a:off x="552450" y="2457450"/>
            <a:ext cx="4953000" cy="24574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D9125F-A580-42D2-9385-1B813769B675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238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Current workflow pain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4082C-0CE8-4E6A-A480-772818C9A808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0EC834-B06E-4E8F-B2EF-E8DF34231E83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3924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Doctors manually document important details after visits.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AB288-BE28-4609-AE1E-6D0BB401F9AB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69DA6-8A44-433A-9C68-47BD1EDEF2AF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3924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Symptoms, decisions, and follow-up needs can be missed.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78BDCF-4E83-415C-BC49-19B6CAA10638}"/>
              </a:ext>
            </a:extLst>
          </p:cNvPr>
          <p:cNvSpPr>
            <a:spLocks noGrp="1"/>
          </p:cNvSpPr>
          <p:nvPr/>
        </p:nvSpPr>
        <p:spPr>
          <a:xfrm>
            <a:off x="819150" y="43243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A8B5EA-64D9-43DF-B4F3-DF7A4A327986}"/>
              </a:ext>
            </a:extLst>
          </p:cNvPr>
          <p:cNvSpPr>
            <a:spLocks noGrp="1"/>
          </p:cNvSpPr>
          <p:nvPr/>
        </p:nvSpPr>
        <p:spPr>
          <a:xfrm>
            <a:off x="990600" y="4248150"/>
            <a:ext cx="3924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Patient feedback is often delayed and survey-based.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8F008C-11BD-471F-9EA4-89DA5987CB42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4114800" cy="245745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6138D8-A912-4226-BFB7-3C9B89B3B64D}"/>
              </a:ext>
            </a:extLst>
          </p:cNvPr>
          <p:cNvSpPr>
            <a:spLocks noGrp="1"/>
          </p:cNvSpPr>
          <p:nvPr/>
        </p:nvSpPr>
        <p:spPr>
          <a:xfrm>
            <a:off x="6953250" y="28194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BD8C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BD8CF"/>
                </a:solidFill>
                <a:latin typeface="Avenir Next"/>
                <a:ea typeface="Avenir Next"/>
                <a:cs typeface="Avenir Next"/>
              </a:rPr>
              <a:t>Project 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BA8F1A-625F-479D-A08D-209035BB60BC}"/>
              </a:ext>
            </a:extLst>
          </p:cNvPr>
          <p:cNvSpPr>
            <a:spLocks noGrp="1"/>
          </p:cNvSpPr>
          <p:nvPr/>
        </p:nvSpPr>
        <p:spPr>
          <a:xfrm>
            <a:off x="6953250" y="3314700"/>
            <a:ext cx="3048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Can cloud-hosted AI analyze clinical conversations and return useful insights through a browser?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E1629E-5B09-48A3-9B4F-E950FF7988E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6C59CA-1EEB-4381-8A2B-3A50B831817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B62A99-0965-4DA4-84FE-F866308705CE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987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AE08F035-6969-4929-8BEB-182072CE11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F15DB6-D3E7-4B91-89AA-E53233F782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>
              <a:ext uri="{FF2B5EF4-FFF2-40B4-BE49-F238E27FC236}">
                <a16:creationId xmlns:a16="http://schemas.microsoft.com/office/drawing/2014/main" id="{3D3333A4-42AF-42E1-BF6B-E8E40092F6A2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>
              <a:ext uri="{FF2B5EF4-FFF2-40B4-BE49-F238E27FC236}">
                <a16:creationId xmlns:a16="http://schemas.microsoft.com/office/drawing/2014/main" id="{AE0981CF-1CA2-49C4-9BD6-4FA726F7D2B8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4DD09-DD91-4BDC-B428-91C52988DF9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Uploaded conversations become structured clinical intelligence.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CD79D-078B-4989-8C21-550F4BFD5D70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0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The Streamlit interface connects file upload, NLP processing, ML classification, retrieval, and LLM output in one workflow.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C709AB-0AC8-4B63-AD25-FD05E4DC15A6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2095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E36C73-2539-4A77-8A59-64AFA1193EEE}"/>
              </a:ext>
            </a:extLst>
          </p:cNvPr>
          <p:cNvSpPr>
            <a:spLocks noGrp="1"/>
          </p:cNvSpPr>
          <p:nvPr/>
        </p:nvSpPr>
        <p:spPr>
          <a:xfrm>
            <a:off x="666750" y="2743200"/>
            <a:ext cx="57150" cy="97155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04DE08-60D8-4EBB-9CC9-007A7AE45581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79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Upload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FD762-6577-4463-B0A3-52EBDACE2422}"/>
              </a:ext>
            </a:extLst>
          </p:cNvPr>
          <p:cNvSpPr>
            <a:spLocks noGrp="1"/>
          </p:cNvSpPr>
          <p:nvPr/>
        </p:nvSpPr>
        <p:spPr>
          <a:xfrm>
            <a:off x="838200" y="3152775"/>
            <a:ext cx="177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.txt or .mp3 conversation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D4AA90-BCB1-4A04-9865-CBE51BE06106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2476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69481A-E6CD-42CB-897E-4043E40D0B3F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57150" cy="971550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7587A2-C497-48EC-9D43-072C0DD55F58}"/>
              </a:ext>
            </a:extLst>
          </p:cNvPr>
          <p:cNvSpPr>
            <a:spLocks noGrp="1"/>
          </p:cNvSpPr>
          <p:nvPr/>
        </p:nvSpPr>
        <p:spPr>
          <a:xfrm>
            <a:off x="3695700" y="2876550"/>
            <a:ext cx="2171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Analyze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0D3678-BD3E-4AD2-A8F0-6F09AA0AFBCF}"/>
              </a:ext>
            </a:extLst>
          </p:cNvPr>
          <p:cNvSpPr>
            <a:spLocks noGrp="1"/>
          </p:cNvSpPr>
          <p:nvPr/>
        </p:nvSpPr>
        <p:spPr>
          <a:xfrm>
            <a:off x="3695700" y="3152775"/>
            <a:ext cx="2152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Transcription, sentiment, entities, speaker role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618117-3D91-47E7-B1A1-AF473F224D0F}"/>
              </a:ext>
            </a:extLst>
          </p:cNvPr>
          <p:cNvSpPr>
            <a:spLocks noGrp="1"/>
          </p:cNvSpPr>
          <p:nvPr/>
        </p:nvSpPr>
        <p:spPr>
          <a:xfrm>
            <a:off x="6762750" y="2743200"/>
            <a:ext cx="23812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543912-3B72-4A53-968A-BF712DD86EA3}"/>
              </a:ext>
            </a:extLst>
          </p:cNvPr>
          <p:cNvSpPr>
            <a:spLocks noGrp="1"/>
          </p:cNvSpPr>
          <p:nvPr/>
        </p:nvSpPr>
        <p:spPr>
          <a:xfrm>
            <a:off x="6762750" y="2743200"/>
            <a:ext cx="57150" cy="971550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6A000-8E5C-42A6-BDE5-5E786D359549}"/>
              </a:ext>
            </a:extLst>
          </p:cNvPr>
          <p:cNvSpPr>
            <a:spLocks noGrp="1"/>
          </p:cNvSpPr>
          <p:nvPr/>
        </p:nvSpPr>
        <p:spPr>
          <a:xfrm>
            <a:off x="6934200" y="28765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Summarize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C15C7E-92BA-4D90-A2E7-047843685424}"/>
              </a:ext>
            </a:extLst>
          </p:cNvPr>
          <p:cNvSpPr>
            <a:spLocks noGrp="1"/>
          </p:cNvSpPr>
          <p:nvPr/>
        </p:nvSpPr>
        <p:spPr>
          <a:xfrm>
            <a:off x="6934200" y="3152775"/>
            <a:ext cx="20574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Groq LLM creates structured clinical summary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08E016-329B-42BF-873E-B37C7094014A}"/>
              </a:ext>
            </a:extLst>
          </p:cNvPr>
          <p:cNvSpPr>
            <a:spLocks noGrp="1"/>
          </p:cNvSpPr>
          <p:nvPr/>
        </p:nvSpPr>
        <p:spPr>
          <a:xfrm>
            <a:off x="9715500" y="2743200"/>
            <a:ext cx="20955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5D8A35-CB3D-4663-88BF-4BF8A7390BBD}"/>
              </a:ext>
            </a:extLst>
          </p:cNvPr>
          <p:cNvSpPr>
            <a:spLocks noGrp="1"/>
          </p:cNvSpPr>
          <p:nvPr/>
        </p:nvSpPr>
        <p:spPr>
          <a:xfrm>
            <a:off x="9715500" y="2743200"/>
            <a:ext cx="57150" cy="97155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39D5EA-F805-4229-B109-04802B9DCE41}"/>
              </a:ext>
            </a:extLst>
          </p:cNvPr>
          <p:cNvSpPr>
            <a:spLocks noGrp="1"/>
          </p:cNvSpPr>
          <p:nvPr/>
        </p:nvSpPr>
        <p:spPr>
          <a:xfrm>
            <a:off x="9886950" y="2876550"/>
            <a:ext cx="179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6174DB-C556-4F79-9767-099C75DA977B}"/>
              </a:ext>
            </a:extLst>
          </p:cNvPr>
          <p:cNvSpPr>
            <a:spLocks noGrp="1"/>
          </p:cNvSpPr>
          <p:nvPr/>
        </p:nvSpPr>
        <p:spPr>
          <a:xfrm>
            <a:off x="9886950" y="3152775"/>
            <a:ext cx="1771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RAG-style Q&amp;A over retrieved transcript context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E60E42-3DB9-466C-B8C2-C49260AF123F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2190750" cy="34290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F73C34-0954-4F39-97DB-EC5F1ACC0061}"/>
              </a:ext>
            </a:extLst>
          </p:cNvPr>
          <p:cNvSpPr>
            <a:spLocks noGrp="1"/>
          </p:cNvSpPr>
          <p:nvPr/>
        </p:nvSpPr>
        <p:spPr>
          <a:xfrm>
            <a:off x="1143000" y="448627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Layer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4F84C9-6F1E-4177-9D32-64953DFCD776}"/>
              </a:ext>
            </a:extLst>
          </p:cNvPr>
          <p:cNvSpPr>
            <a:spLocks noGrp="1"/>
          </p:cNvSpPr>
          <p:nvPr/>
        </p:nvSpPr>
        <p:spPr>
          <a:xfrm>
            <a:off x="3238500" y="4400550"/>
            <a:ext cx="2857500" cy="34290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5B6CFD-8483-4A3A-9F56-B7FF905BFD7A}"/>
              </a:ext>
            </a:extLst>
          </p:cNvPr>
          <p:cNvSpPr>
            <a:spLocks noGrp="1"/>
          </p:cNvSpPr>
          <p:nvPr/>
        </p:nvSpPr>
        <p:spPr>
          <a:xfrm>
            <a:off x="3333750" y="44862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Tool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B350BB-7E81-4672-9D62-D15A2614D150}"/>
              </a:ext>
            </a:extLst>
          </p:cNvPr>
          <p:cNvSpPr>
            <a:spLocks noGrp="1"/>
          </p:cNvSpPr>
          <p:nvPr/>
        </p:nvSpPr>
        <p:spPr>
          <a:xfrm>
            <a:off x="6096000" y="4400550"/>
            <a:ext cx="4953000" cy="34290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D785355-9E94-4B4A-ABB4-406E6C59AFFA}"/>
              </a:ext>
            </a:extLst>
          </p:cNvPr>
          <p:cNvSpPr>
            <a:spLocks noGrp="1"/>
          </p:cNvSpPr>
          <p:nvPr/>
        </p:nvSpPr>
        <p:spPr>
          <a:xfrm>
            <a:off x="6191250" y="44862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output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F7CD9F-3E8A-42E0-A84A-597B53E30D99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21907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10826E-6976-43E1-BA6C-0F59C7E07BA7}"/>
              </a:ext>
            </a:extLst>
          </p:cNvPr>
          <p:cNvSpPr>
            <a:spLocks noGrp="1"/>
          </p:cNvSpPr>
          <p:nvPr/>
        </p:nvSpPr>
        <p:spPr>
          <a:xfrm>
            <a:off x="1143000" y="482917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Speech-to-text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E3FFF3-1261-4B2E-B0A8-6FF7F5059633}"/>
              </a:ext>
            </a:extLst>
          </p:cNvPr>
          <p:cNvSpPr>
            <a:spLocks noGrp="1"/>
          </p:cNvSpPr>
          <p:nvPr/>
        </p:nvSpPr>
        <p:spPr>
          <a:xfrm>
            <a:off x="3238500" y="4743450"/>
            <a:ext cx="28575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5F74B2-FB19-42D9-8CFF-7268CEFF6F3F}"/>
              </a:ext>
            </a:extLst>
          </p:cNvPr>
          <p:cNvSpPr>
            <a:spLocks noGrp="1"/>
          </p:cNvSpPr>
          <p:nvPr/>
        </p:nvSpPr>
        <p:spPr>
          <a:xfrm>
            <a:off x="3333750" y="48291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Whisper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78DBC0-A5FC-443A-A5FF-0249306D1297}"/>
              </a:ext>
            </a:extLst>
          </p:cNvPr>
          <p:cNvSpPr>
            <a:spLocks noGrp="1"/>
          </p:cNvSpPr>
          <p:nvPr/>
        </p:nvSpPr>
        <p:spPr>
          <a:xfrm>
            <a:off x="6096000" y="4743450"/>
            <a:ext cx="4953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C0F7A6-E493-4FD9-900A-9D9D3B1E1801}"/>
              </a:ext>
            </a:extLst>
          </p:cNvPr>
          <p:cNvSpPr>
            <a:spLocks noGrp="1"/>
          </p:cNvSpPr>
          <p:nvPr/>
        </p:nvSpPr>
        <p:spPr>
          <a:xfrm>
            <a:off x="6191250" y="48291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Audio converted into transcript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D1A63E-4207-4179-ABA6-3543F9C9A9A1}"/>
              </a:ext>
            </a:extLst>
          </p:cNvPr>
          <p:cNvSpPr>
            <a:spLocks noGrp="1"/>
          </p:cNvSpPr>
          <p:nvPr/>
        </p:nvSpPr>
        <p:spPr>
          <a:xfrm>
            <a:off x="1047750" y="5086350"/>
            <a:ext cx="2190750" cy="34290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DD49A7-174A-4222-B760-57751892584C}"/>
              </a:ext>
            </a:extLst>
          </p:cNvPr>
          <p:cNvSpPr>
            <a:spLocks noGrp="1"/>
          </p:cNvSpPr>
          <p:nvPr/>
        </p:nvSpPr>
        <p:spPr>
          <a:xfrm>
            <a:off x="1143000" y="517207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282E39-4514-4276-9427-CF9C343D96E6}"/>
              </a:ext>
            </a:extLst>
          </p:cNvPr>
          <p:cNvSpPr>
            <a:spLocks noGrp="1"/>
          </p:cNvSpPr>
          <p:nvPr/>
        </p:nvSpPr>
        <p:spPr>
          <a:xfrm>
            <a:off x="3238500" y="5086350"/>
            <a:ext cx="2857500" cy="34290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563414-0102-4A59-A4B1-A5098B136C01}"/>
              </a:ext>
            </a:extLst>
          </p:cNvPr>
          <p:cNvSpPr>
            <a:spLocks noGrp="1"/>
          </p:cNvSpPr>
          <p:nvPr/>
        </p:nvSpPr>
        <p:spPr>
          <a:xfrm>
            <a:off x="3333750" y="51720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VADER + spaCy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0A09FF-C370-42C4-8EC3-935286E17C8B}"/>
              </a:ext>
            </a:extLst>
          </p:cNvPr>
          <p:cNvSpPr>
            <a:spLocks noGrp="1"/>
          </p:cNvSpPr>
          <p:nvPr/>
        </p:nvSpPr>
        <p:spPr>
          <a:xfrm>
            <a:off x="6096000" y="5086350"/>
            <a:ext cx="4953000" cy="34290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09948E-DF97-4EC7-AA0E-5C6961BCA0F1}"/>
              </a:ext>
            </a:extLst>
          </p:cNvPr>
          <p:cNvSpPr>
            <a:spLocks noGrp="1"/>
          </p:cNvSpPr>
          <p:nvPr/>
        </p:nvSpPr>
        <p:spPr>
          <a:xfrm>
            <a:off x="6191250" y="51720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Sentiment and key entities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3CA462-9E34-40AD-B97C-7A27497D0926}"/>
              </a:ext>
            </a:extLst>
          </p:cNvPr>
          <p:cNvSpPr>
            <a:spLocks noGrp="1"/>
          </p:cNvSpPr>
          <p:nvPr/>
        </p:nvSpPr>
        <p:spPr>
          <a:xfrm>
            <a:off x="1047750" y="5429250"/>
            <a:ext cx="219075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B8C41C-8083-4EE4-953C-E4010B7185B7}"/>
              </a:ext>
            </a:extLst>
          </p:cNvPr>
          <p:cNvSpPr>
            <a:spLocks noGrp="1"/>
          </p:cNvSpPr>
          <p:nvPr/>
        </p:nvSpPr>
        <p:spPr>
          <a:xfrm>
            <a:off x="1143000" y="551497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ML + retrieval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BC8FE2-07CC-476F-B654-F58EAE62242A}"/>
              </a:ext>
            </a:extLst>
          </p:cNvPr>
          <p:cNvSpPr>
            <a:spLocks noGrp="1"/>
          </p:cNvSpPr>
          <p:nvPr/>
        </p:nvSpPr>
        <p:spPr>
          <a:xfrm>
            <a:off x="3238500" y="5429250"/>
            <a:ext cx="28575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AF07A4C-3A1E-45FB-A812-11F84543CB6A}"/>
              </a:ext>
            </a:extLst>
          </p:cNvPr>
          <p:cNvSpPr>
            <a:spLocks noGrp="1"/>
          </p:cNvSpPr>
          <p:nvPr/>
        </p:nvSpPr>
        <p:spPr>
          <a:xfrm>
            <a:off x="3333750" y="55149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TF-IDF, Logistic Regression, Sentence Transformers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88A5609-74E3-474B-A22C-A7AE3D08CC60}"/>
              </a:ext>
            </a:extLst>
          </p:cNvPr>
          <p:cNvSpPr>
            <a:spLocks noGrp="1"/>
          </p:cNvSpPr>
          <p:nvPr/>
        </p:nvSpPr>
        <p:spPr>
          <a:xfrm>
            <a:off x="6096000" y="5429250"/>
            <a:ext cx="49530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07F6753-4155-4A46-983C-19E2926FC58C}"/>
              </a:ext>
            </a:extLst>
          </p:cNvPr>
          <p:cNvSpPr>
            <a:spLocks noGrp="1"/>
          </p:cNvSpPr>
          <p:nvPr/>
        </p:nvSpPr>
        <p:spPr>
          <a:xfrm>
            <a:off x="6191250" y="55149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Speaker labels and semantic context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6DFCE6-FF46-48BE-8484-D75A8635AA09}"/>
              </a:ext>
            </a:extLst>
          </p:cNvPr>
          <p:cNvSpPr>
            <a:spLocks noGrp="1"/>
          </p:cNvSpPr>
          <p:nvPr/>
        </p:nvSpPr>
        <p:spPr>
          <a:xfrm>
            <a:off x="1047750" y="5772150"/>
            <a:ext cx="2190750" cy="34290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9FA8450-9D77-4C12-A9E5-4FADF0FBE92E}"/>
              </a:ext>
            </a:extLst>
          </p:cNvPr>
          <p:cNvSpPr>
            <a:spLocks noGrp="1"/>
          </p:cNvSpPr>
          <p:nvPr/>
        </p:nvSpPr>
        <p:spPr>
          <a:xfrm>
            <a:off x="1143000" y="5857875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LLM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EC6B73-935F-450D-8C32-F4686308D7C4}"/>
              </a:ext>
            </a:extLst>
          </p:cNvPr>
          <p:cNvSpPr>
            <a:spLocks noGrp="1"/>
          </p:cNvSpPr>
          <p:nvPr/>
        </p:nvSpPr>
        <p:spPr>
          <a:xfrm>
            <a:off x="3238500" y="5772150"/>
            <a:ext cx="2857500" cy="34290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C92D09-FA86-420F-9C89-D2CFFE52B287}"/>
              </a:ext>
            </a:extLst>
          </p:cNvPr>
          <p:cNvSpPr>
            <a:spLocks noGrp="1"/>
          </p:cNvSpPr>
          <p:nvPr/>
        </p:nvSpPr>
        <p:spPr>
          <a:xfrm>
            <a:off x="3333750" y="5857875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Groq llama-3.3-70b-versatile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E2DCC24-6A3E-421C-9825-495723854AAD}"/>
              </a:ext>
            </a:extLst>
          </p:cNvPr>
          <p:cNvSpPr>
            <a:spLocks noGrp="1"/>
          </p:cNvSpPr>
          <p:nvPr/>
        </p:nvSpPr>
        <p:spPr>
          <a:xfrm>
            <a:off x="6096000" y="5772150"/>
            <a:ext cx="4953000" cy="34290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9A29106-79CB-41EF-917C-53B68234DFD4}"/>
              </a:ext>
            </a:extLst>
          </p:cNvPr>
          <p:cNvSpPr>
            <a:spLocks noGrp="1"/>
          </p:cNvSpPr>
          <p:nvPr/>
        </p:nvSpPr>
        <p:spPr>
          <a:xfrm>
            <a:off x="6191250" y="5857875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Summary, action items, Q&amp;A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3E4B018-C5DF-40C2-B1A4-2B79F7DD3A2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82DB3E5-89EE-4414-BA76-F5934C2B601A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1E8FACC-C387-4E3D-A3B2-3A2905F92A54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812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3D86A51-BAA4-49E6-9B2E-FE1C7DAEA7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E1D4F4-A791-4F87-B513-B458C20FB9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>
              <a:ext uri="{FF2B5EF4-FFF2-40B4-BE49-F238E27FC236}">
                <a16:creationId xmlns:a16="http://schemas.microsoft.com/office/drawing/2014/main" id="{8E5AF667-1F4A-46E0-9004-4C849ECB6CC7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>
              <a:ext uri="{FF2B5EF4-FFF2-40B4-BE49-F238E27FC236}">
                <a16:creationId xmlns:a16="http://schemas.microsoft.com/office/drawing/2014/main" id="{F4F02A44-FBF2-4689-9D51-B1167B73BB64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349B6-30BA-43EC-AA6D-3366B9A74D1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cloud architecture separates browser access, container runtime, AI models, and external LLM calls.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6B153F-9649-459C-97AE-71EF7ECCA06B}"/>
              </a:ext>
            </a:extLst>
          </p:cNvPr>
          <p:cNvSpPr>
            <a:spLocks noGrp="1"/>
          </p:cNvSpPr>
          <p:nvPr/>
        </p:nvSpPr>
        <p:spPr>
          <a:xfrm>
            <a:off x="590550" y="2781300"/>
            <a:ext cx="2000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D18D5-2FF2-47D0-B5A0-47B1673BA7FE}"/>
              </a:ext>
            </a:extLst>
          </p:cNvPr>
          <p:cNvSpPr>
            <a:spLocks noGrp="1"/>
          </p:cNvSpPr>
          <p:nvPr/>
        </p:nvSpPr>
        <p:spPr>
          <a:xfrm>
            <a:off x="590550" y="2781300"/>
            <a:ext cx="57150" cy="10668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3A89F-19F0-4232-BEDB-F762BC24F2AA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1695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User browser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D47BFA-E90E-4C2C-86E6-494D8D995244}"/>
              </a:ext>
            </a:extLst>
          </p:cNvPr>
          <p:cNvSpPr>
            <a:spLocks noGrp="1"/>
          </p:cNvSpPr>
          <p:nvPr/>
        </p:nvSpPr>
        <p:spPr>
          <a:xfrm>
            <a:off x="762000" y="3190875"/>
            <a:ext cx="1676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Uploads sample clinical conversation and views dashboard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E32B47-5FAA-4974-A3DE-A6FCDCEC1693}"/>
              </a:ext>
            </a:extLst>
          </p:cNvPr>
          <p:cNvSpPr>
            <a:spLocks noGrp="1"/>
          </p:cNvSpPr>
          <p:nvPr/>
        </p:nvSpPr>
        <p:spPr>
          <a:xfrm>
            <a:off x="3086100" y="2781300"/>
            <a:ext cx="2190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36ED9D-7730-4D4A-B634-1B64613E654C}"/>
              </a:ext>
            </a:extLst>
          </p:cNvPr>
          <p:cNvSpPr>
            <a:spLocks noGrp="1"/>
          </p:cNvSpPr>
          <p:nvPr/>
        </p:nvSpPr>
        <p:spPr>
          <a:xfrm>
            <a:off x="3086100" y="2781300"/>
            <a:ext cx="57150" cy="1066800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1B272-10C3-449E-96A2-5CDC3180808E}"/>
              </a:ext>
            </a:extLst>
          </p:cNvPr>
          <p:cNvSpPr>
            <a:spLocks noGrp="1"/>
          </p:cNvSpPr>
          <p:nvPr/>
        </p:nvSpPr>
        <p:spPr>
          <a:xfrm>
            <a:off x="3257550" y="291465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AWS EC2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5DF6FB-A4BB-49FC-B210-90EDFA2CA417}"/>
              </a:ext>
            </a:extLst>
          </p:cNvPr>
          <p:cNvSpPr>
            <a:spLocks noGrp="1"/>
          </p:cNvSpPr>
          <p:nvPr/>
        </p:nvSpPr>
        <p:spPr>
          <a:xfrm>
            <a:off x="3257550" y="3190875"/>
            <a:ext cx="186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Cloud compute instance hosting containerized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815668-9787-417C-A9B5-25FFBBCDDDDC}"/>
              </a:ext>
            </a:extLst>
          </p:cNvPr>
          <p:cNvSpPr>
            <a:spLocks noGrp="1"/>
          </p:cNvSpPr>
          <p:nvPr/>
        </p:nvSpPr>
        <p:spPr>
          <a:xfrm>
            <a:off x="5772150" y="2781300"/>
            <a:ext cx="2381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9666F4-555B-40F5-A381-956D4966A295}"/>
              </a:ext>
            </a:extLst>
          </p:cNvPr>
          <p:cNvSpPr>
            <a:spLocks noGrp="1"/>
          </p:cNvSpPr>
          <p:nvPr/>
        </p:nvSpPr>
        <p:spPr>
          <a:xfrm>
            <a:off x="5772150" y="2781300"/>
            <a:ext cx="57150" cy="1066800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18AD3E-3324-44C2-A95B-F58F349C8B84}"/>
              </a:ext>
            </a:extLst>
          </p:cNvPr>
          <p:cNvSpPr>
            <a:spLocks noGrp="1"/>
          </p:cNvSpPr>
          <p:nvPr/>
        </p:nvSpPr>
        <p:spPr>
          <a:xfrm>
            <a:off x="5943600" y="2914650"/>
            <a:ext cx="2076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Docker container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FD9EF-F060-4240-BD88-96C355D8CA8A}"/>
              </a:ext>
            </a:extLst>
          </p:cNvPr>
          <p:cNvSpPr>
            <a:spLocks noGrp="1"/>
          </p:cNvSpPr>
          <p:nvPr/>
        </p:nvSpPr>
        <p:spPr>
          <a:xfrm>
            <a:off x="5943600" y="3190875"/>
            <a:ext cx="2057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Python, Streamlit, model dependencies, app 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DBE556-AC9B-4CE8-BFC9-9A70415A2EA5}"/>
              </a:ext>
            </a:extLst>
          </p:cNvPr>
          <p:cNvSpPr>
            <a:spLocks noGrp="1"/>
          </p:cNvSpPr>
          <p:nvPr/>
        </p:nvSpPr>
        <p:spPr>
          <a:xfrm>
            <a:off x="8648700" y="2781300"/>
            <a:ext cx="27241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C3F9E2-B7B2-45D9-AB24-4D87DC29BD2A}"/>
              </a:ext>
            </a:extLst>
          </p:cNvPr>
          <p:cNvSpPr>
            <a:spLocks noGrp="1"/>
          </p:cNvSpPr>
          <p:nvPr/>
        </p:nvSpPr>
        <p:spPr>
          <a:xfrm>
            <a:off x="8648700" y="2781300"/>
            <a:ext cx="57150" cy="10668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91736A-7EB3-4213-BCB5-A7E814C08553}"/>
              </a:ext>
            </a:extLst>
          </p:cNvPr>
          <p:cNvSpPr>
            <a:spLocks noGrp="1"/>
          </p:cNvSpPr>
          <p:nvPr/>
        </p:nvSpPr>
        <p:spPr>
          <a:xfrm>
            <a:off x="8820150" y="2914650"/>
            <a:ext cx="2419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AI/NLP pipeline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60CB75-F01B-457C-9EF2-ED93BAB2556D}"/>
              </a:ext>
            </a:extLst>
          </p:cNvPr>
          <p:cNvSpPr>
            <a:spLocks noGrp="1"/>
          </p:cNvSpPr>
          <p:nvPr/>
        </p:nvSpPr>
        <p:spPr>
          <a:xfrm>
            <a:off x="8820150" y="3190875"/>
            <a:ext cx="2400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Whisper, VADER, spaCy, speaker model, embeddings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1CCF2F-9B73-4A2D-88E3-DF9090DD72C9}"/>
              </a:ext>
            </a:extLst>
          </p:cNvPr>
          <p:cNvSpPr>
            <a:spLocks noGrp="1"/>
          </p:cNvSpPr>
          <p:nvPr/>
        </p:nvSpPr>
        <p:spPr>
          <a:xfrm>
            <a:off x="1866900" y="3286125"/>
            <a:ext cx="762000" cy="2857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636A67-E1D3-4A67-808C-B2EA14B23F03}"/>
              </a:ext>
            </a:extLst>
          </p:cNvPr>
          <p:cNvSpPr>
            <a:spLocks noGrp="1"/>
          </p:cNvSpPr>
          <p:nvPr/>
        </p:nvSpPr>
        <p:spPr>
          <a:xfrm>
            <a:off x="5181600" y="3286125"/>
            <a:ext cx="666750" cy="28575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32B357-C8A7-42F2-9E9B-D6880A42662F}"/>
              </a:ext>
            </a:extLst>
          </p:cNvPr>
          <p:cNvSpPr>
            <a:spLocks noGrp="1"/>
          </p:cNvSpPr>
          <p:nvPr/>
        </p:nvSpPr>
        <p:spPr>
          <a:xfrm>
            <a:off x="8058150" y="3286125"/>
            <a:ext cx="666750" cy="2857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5BFD89-9D81-4304-8B16-A5CDAFC46531}"/>
              </a:ext>
            </a:extLst>
          </p:cNvPr>
          <p:cNvSpPr>
            <a:spLocks noGrp="1"/>
          </p:cNvSpPr>
          <p:nvPr/>
        </p:nvSpPr>
        <p:spPr>
          <a:xfrm>
            <a:off x="5772150" y="4572000"/>
            <a:ext cx="2381250" cy="76200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EF7E60-D2EA-42F3-9166-05F3776B7BCB}"/>
              </a:ext>
            </a:extLst>
          </p:cNvPr>
          <p:cNvSpPr>
            <a:spLocks noGrp="1"/>
          </p:cNvSpPr>
          <p:nvPr/>
        </p:nvSpPr>
        <p:spPr>
          <a:xfrm>
            <a:off x="6019800" y="48006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Groq LLM API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0E105A-2CF4-4E19-BC52-5BA9340D9C3C}"/>
              </a:ext>
            </a:extLst>
          </p:cNvPr>
          <p:cNvSpPr>
            <a:spLocks noGrp="1"/>
          </p:cNvSpPr>
          <p:nvPr/>
        </p:nvSpPr>
        <p:spPr>
          <a:xfrm>
            <a:off x="6019800" y="5067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CFE2DC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CFE2DC"/>
                </a:solidFill>
                <a:latin typeface="Avenir Next"/>
                <a:ea typeface="Avenir Next"/>
                <a:cs typeface="Avenir Next"/>
              </a:rPr>
              <a:t>Summaries and Q&amp;A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133D8E-60AE-4BD8-B1D4-06B305A7208A}"/>
              </a:ext>
            </a:extLst>
          </p:cNvPr>
          <p:cNvSpPr>
            <a:spLocks noGrp="1"/>
          </p:cNvSpPr>
          <p:nvPr/>
        </p:nvSpPr>
        <p:spPr>
          <a:xfrm>
            <a:off x="6953250" y="3848100"/>
            <a:ext cx="28575" cy="7239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5B9D8E-9893-4D4C-A7C0-CCC72ADDC1C7}"/>
              </a:ext>
            </a:extLst>
          </p:cNvPr>
          <p:cNvSpPr>
            <a:spLocks noGrp="1"/>
          </p:cNvSpPr>
          <p:nvPr/>
        </p:nvSpPr>
        <p:spPr>
          <a:xfrm>
            <a:off x="590550" y="5619750"/>
            <a:ext cx="971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Deployment controls: .env secrets, EC2 security group, port 8501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441FFC-85F0-456C-B2D7-D5DB00EB7B9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C6EEB3-078D-40F6-8F51-339A09EC46F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BA52FB-0DF7-44AA-8D03-4304CE49D36C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00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FE82380-E2A3-49F4-A278-9EF2A9758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8C04F7-1856-4D2D-AABC-A54AF48FF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>
              <a:ext uri="{FF2B5EF4-FFF2-40B4-BE49-F238E27FC236}">
                <a16:creationId xmlns:a16="http://schemas.microsoft.com/office/drawing/2014/main" id="{12C8A689-8C13-4552-A1AF-718C82532B41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>
              <a:ext uri="{FF2B5EF4-FFF2-40B4-BE49-F238E27FC236}">
                <a16:creationId xmlns:a16="http://schemas.microsoft.com/office/drawing/2014/main" id="{F22E4F93-F94B-4E8C-9C19-A9BD1F0EAEFA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IMPLEMENTATION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1512F-17D4-4622-82DE-155A8155AB6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build turned the NLP prototype into a deployable cloud project.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3177E-7788-4C64-A5C1-735D6555BF80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226695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4C2C4F-5F56-45EE-87BF-F9A7EFFA79CC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57A6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7A6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5790F5-5032-4244-9842-2DDFB1044CC9}"/>
              </a:ext>
            </a:extLst>
          </p:cNvPr>
          <p:cNvSpPr>
            <a:spLocks noGrp="1"/>
          </p:cNvSpPr>
          <p:nvPr/>
        </p:nvSpPr>
        <p:spPr>
          <a:xfrm>
            <a:off x="933450" y="3409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Cleaned app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D87D3A-5674-417A-BC12-E8C2458E5A91}"/>
              </a:ext>
            </a:extLst>
          </p:cNvPr>
          <p:cNvSpPr>
            <a:spLocks noGrp="1"/>
          </p:cNvSpPr>
          <p:nvPr/>
        </p:nvSpPr>
        <p:spPr>
          <a:xfrm>
            <a:off x="933450" y="3829050"/>
            <a:ext cx="17526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Renamed interface for clinical conversation intelligence and added privacy note.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3EBA66-834B-41F2-ABDF-BF3FF51DA71E}"/>
              </a:ext>
            </a:extLst>
          </p:cNvPr>
          <p:cNvSpPr>
            <a:spLocks noGrp="1"/>
          </p:cNvSpPr>
          <p:nvPr/>
        </p:nvSpPr>
        <p:spPr>
          <a:xfrm>
            <a:off x="3505200" y="2647950"/>
            <a:ext cx="2266950" cy="2266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044AF8-11F1-4FFF-A588-D9B1B54CC48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56E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C56E3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9AC1A4-377F-4C4A-B903-9AF5B46FA750}"/>
              </a:ext>
            </a:extLst>
          </p:cNvPr>
          <p:cNvSpPr>
            <a:spLocks noGrp="1"/>
          </p:cNvSpPr>
          <p:nvPr/>
        </p:nvSpPr>
        <p:spPr>
          <a:xfrm>
            <a:off x="3714750" y="3409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Packaged code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9BB0B-E39E-44EF-8B0C-DB1610C390F6}"/>
              </a:ext>
            </a:extLst>
          </p:cNvPr>
          <p:cNvSpPr>
            <a:spLocks noGrp="1"/>
          </p:cNvSpPr>
          <p:nvPr/>
        </p:nvSpPr>
        <p:spPr>
          <a:xfrm>
            <a:off x="3714750" y="3829050"/>
            <a:ext cx="17526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Added requirements, Dockerfile, .dockerignore, sample data, and .env template.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78D9B-425D-4F52-891F-E3CBA04E4DF8}"/>
              </a:ext>
            </a:extLst>
          </p:cNvPr>
          <p:cNvSpPr>
            <a:spLocks noGrp="1"/>
          </p:cNvSpPr>
          <p:nvPr/>
        </p:nvSpPr>
        <p:spPr>
          <a:xfrm>
            <a:off x="6286500" y="2647950"/>
            <a:ext cx="2266950" cy="2266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4F7B36-9092-48C7-B3F8-CB3F9CB7EBF8}"/>
              </a:ext>
            </a:extLst>
          </p:cNvPr>
          <p:cNvSpPr>
            <a:spLocks noGrp="1"/>
          </p:cNvSpPr>
          <p:nvPr/>
        </p:nvSpPr>
        <p:spPr>
          <a:xfrm>
            <a:off x="6496050" y="28575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57A6E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57A6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5045AB-F622-4738-A4F8-55F9247CB206}"/>
              </a:ext>
            </a:extLst>
          </p:cNvPr>
          <p:cNvSpPr>
            <a:spLocks noGrp="1"/>
          </p:cNvSpPr>
          <p:nvPr/>
        </p:nvSpPr>
        <p:spPr>
          <a:xfrm>
            <a:off x="6496050" y="3409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Resolved setup issues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2B4927-4DF2-4A2D-9C0C-F8C568FFA139}"/>
              </a:ext>
            </a:extLst>
          </p:cNvPr>
          <p:cNvSpPr>
            <a:spLocks noGrp="1"/>
          </p:cNvSpPr>
          <p:nvPr/>
        </p:nvSpPr>
        <p:spPr>
          <a:xfrm>
            <a:off x="6496050" y="3829050"/>
            <a:ext cx="17526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Pinned compatible Torch/httpx versions and handled Whisper build isolation.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24AB3B-C09F-4026-B80A-EB35B95A7564}"/>
              </a:ext>
            </a:extLst>
          </p:cNvPr>
          <p:cNvSpPr>
            <a:spLocks noGrp="1"/>
          </p:cNvSpPr>
          <p:nvPr/>
        </p:nvSpPr>
        <p:spPr>
          <a:xfrm>
            <a:off x="9067800" y="2647950"/>
            <a:ext cx="2266950" cy="2266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338A96-18D7-4808-B574-4CA154E7B677}"/>
              </a:ext>
            </a:extLst>
          </p:cNvPr>
          <p:cNvSpPr>
            <a:spLocks noGrp="1"/>
          </p:cNvSpPr>
          <p:nvPr/>
        </p:nvSpPr>
        <p:spPr>
          <a:xfrm>
            <a:off x="9277350" y="2857500"/>
            <a:ext cx="57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56E33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C56E3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2B4148-7F52-454A-A818-568652107C63}"/>
              </a:ext>
            </a:extLst>
          </p:cNvPr>
          <p:cNvSpPr>
            <a:spLocks noGrp="1"/>
          </p:cNvSpPr>
          <p:nvPr/>
        </p:nvSpPr>
        <p:spPr>
          <a:xfrm>
            <a:off x="9277350" y="34099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Prepared EC2 flow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28C9DB-5B55-47D7-845E-FE5196772FFE}"/>
              </a:ext>
            </a:extLst>
          </p:cNvPr>
          <p:cNvSpPr>
            <a:spLocks noGrp="1"/>
          </p:cNvSpPr>
          <p:nvPr/>
        </p:nvSpPr>
        <p:spPr>
          <a:xfrm>
            <a:off x="9277350" y="3829050"/>
            <a:ext cx="17526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Documented SSH, file upload, Docker build, container run, and security group setup.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F42550-68C9-4A23-814A-CB32084A701D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Key deployment command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52F76C-4FF9-49E6-ABF5-009446855803}"/>
              </a:ext>
            </a:extLst>
          </p:cNvPr>
          <p:cNvSpPr>
            <a:spLocks noGrp="1"/>
          </p:cNvSpPr>
          <p:nvPr/>
        </p:nvSpPr>
        <p:spPr>
          <a:xfrm>
            <a:off x="2857500" y="5200650"/>
            <a:ext cx="6572250" cy="41910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6942C3-705F-4681-B872-160D5B13854E}"/>
              </a:ext>
            </a:extLst>
          </p:cNvPr>
          <p:cNvSpPr>
            <a:spLocks noGrp="1"/>
          </p:cNvSpPr>
          <p:nvPr/>
        </p:nvSpPr>
        <p:spPr>
          <a:xfrm>
            <a:off x="3028950" y="533400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docker run -d --env-file .env -p 8501:8501 --name clinical-app clinical-conversation-analysis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DA9879-E615-4EE0-B0D9-9958D41F583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48D16C-3626-49AA-9DC3-E2908C63502B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1F39F3-DDC9-4D52-AED4-465E6C3F3344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567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3C02AC7-5C5F-4FAD-B19B-49E013304E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7096B7-7A7C-41C6-B154-A2744F8852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>
              <a:ext uri="{FF2B5EF4-FFF2-40B4-BE49-F238E27FC236}">
                <a16:creationId xmlns:a16="http://schemas.microsoft.com/office/drawing/2014/main" id="{3DA85C6A-C1F6-4533-B2EA-4639CF3ED208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>
              <a:ext uri="{FF2B5EF4-FFF2-40B4-BE49-F238E27FC236}">
                <a16:creationId xmlns:a16="http://schemas.microsoft.com/office/drawing/2014/main" id="{26AAE872-090B-41DE-94C3-34F4588C2FB5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TESTING OUTCOMES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9611B7-D6FC-46EF-B70E-AA061A42E1B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demo successfully processed audio, produced insights, and generated an LLM clinical summary.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6AB4DF-A70A-4F28-86D6-FA8F782A4641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00250" cy="2857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DB95BB-C752-48C5-99CA-A79E8B9050B7}"/>
              </a:ext>
            </a:extLst>
          </p:cNvPr>
          <p:cNvSpPr>
            <a:spLocks noGrp="1"/>
          </p:cNvSpPr>
          <p:nvPr/>
        </p:nvSpPr>
        <p:spPr>
          <a:xfrm>
            <a:off x="666750" y="25336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.mp3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75C6D6-CB41-40BC-A84B-68B9F8C999D6}"/>
              </a:ext>
            </a:extLst>
          </p:cNvPr>
          <p:cNvSpPr>
            <a:spLocks noGrp="1"/>
          </p:cNvSpPr>
          <p:nvPr/>
        </p:nvSpPr>
        <p:spPr>
          <a:xfrm>
            <a:off x="666750" y="2971800"/>
            <a:ext cx="2000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AUDIO INPUT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CBE1C1-E293-4211-AE94-720471030039}"/>
              </a:ext>
            </a:extLst>
          </p:cNvPr>
          <p:cNvSpPr>
            <a:spLocks noGrp="1"/>
          </p:cNvSpPr>
          <p:nvPr/>
        </p:nvSpPr>
        <p:spPr>
          <a:xfrm>
            <a:off x="666750" y="31623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Uploaded clinical visit recording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947045-7985-4295-8FE4-245E129F38EA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2381250" cy="28575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B0C63D-66FD-4033-8901-30B7973351DE}"/>
              </a:ext>
            </a:extLst>
          </p:cNvPr>
          <p:cNvSpPr>
            <a:spLocks noGrp="1"/>
          </p:cNvSpPr>
          <p:nvPr/>
        </p:nvSpPr>
        <p:spPr>
          <a:xfrm>
            <a:off x="3238500" y="25336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-0.989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732DDC-B6FF-4E52-AA71-DBBBE99941E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SENTIMENT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1A1E4B-D1FD-4454-9C5E-2130D9E57AAA}"/>
              </a:ext>
            </a:extLst>
          </p:cNvPr>
          <p:cNvSpPr>
            <a:spLocks noGrp="1"/>
          </p:cNvSpPr>
          <p:nvPr/>
        </p:nvSpPr>
        <p:spPr>
          <a:xfrm>
            <a:off x="3238500" y="31623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Negative tone detected in chest-pain conversation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DB093C-2806-4E12-81B3-7CFF165656F0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2333625" cy="2857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1A3220-FCA5-4CF1-8B2C-9A09859EAE91}"/>
              </a:ext>
            </a:extLst>
          </p:cNvPr>
          <p:cNvSpPr>
            <a:spLocks noGrp="1"/>
          </p:cNvSpPr>
          <p:nvPr/>
        </p:nvSpPr>
        <p:spPr>
          <a:xfrm>
            <a:off x="6191250" y="2533650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AB2C9C-2A9A-45E1-899E-5F5BAC84A02B}"/>
              </a:ext>
            </a:extLst>
          </p:cNvPr>
          <p:cNvSpPr>
            <a:spLocks noGrp="1"/>
          </p:cNvSpPr>
          <p:nvPr/>
        </p:nvSpPr>
        <p:spPr>
          <a:xfrm>
            <a:off x="6191250" y="2971800"/>
            <a:ext cx="2333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ENTITY GROUPS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FF2883-5EA4-4BCF-87F0-5DBC6AE07A4A}"/>
              </a:ext>
            </a:extLst>
          </p:cNvPr>
          <p:cNvSpPr>
            <a:spLocks noGrp="1"/>
          </p:cNvSpPr>
          <p:nvPr/>
        </p:nvSpPr>
        <p:spPr>
          <a:xfrm>
            <a:off x="6191250" y="3162300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People, organizations, dates, locations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4AA819-B293-4516-96C0-CBF7D5B3B8A6}"/>
              </a:ext>
            </a:extLst>
          </p:cNvPr>
          <p:cNvSpPr>
            <a:spLocks noGrp="1"/>
          </p:cNvSpPr>
          <p:nvPr/>
        </p:nvSpPr>
        <p:spPr>
          <a:xfrm>
            <a:off x="9048750" y="2381250"/>
            <a:ext cx="2286000" cy="2857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8ACD74-D61B-4887-9708-7391E3A40B52}"/>
              </a:ext>
            </a:extLst>
          </p:cNvPr>
          <p:cNvSpPr>
            <a:spLocks noGrp="1"/>
          </p:cNvSpPr>
          <p:nvPr/>
        </p:nvSpPr>
        <p:spPr>
          <a:xfrm>
            <a:off x="9048750" y="253365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Working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4E3B6E-0B6F-4854-B5BF-A3136BFBBFB9}"/>
              </a:ext>
            </a:extLst>
          </p:cNvPr>
          <p:cNvSpPr>
            <a:spLocks noGrp="1"/>
          </p:cNvSpPr>
          <p:nvPr/>
        </p:nvSpPr>
        <p:spPr>
          <a:xfrm>
            <a:off x="9048750" y="29718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LLM SUMMARY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EC7395-EBEE-4752-A3F4-91E85F2B36BE}"/>
              </a:ext>
            </a:extLst>
          </p:cNvPr>
          <p:cNvSpPr>
            <a:spLocks noGrp="1"/>
          </p:cNvSpPr>
          <p:nvPr/>
        </p:nvSpPr>
        <p:spPr>
          <a:xfrm>
            <a:off x="9048750" y="316230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Symptoms, actions, decisions, entities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F493F0-B3F9-44F2-89EB-55B0985EC5A2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2476500" cy="36195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4B9316E-30D1-4969-8AEF-6C14AE3913FC}"/>
              </a:ext>
            </a:extLst>
          </p:cNvPr>
          <p:cNvSpPr>
            <a:spLocks noGrp="1"/>
          </p:cNvSpPr>
          <p:nvPr/>
        </p:nvSpPr>
        <p:spPr>
          <a:xfrm>
            <a:off x="952500" y="41814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Feature tested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CF295C-FF6E-4EAE-837C-B0E50F933019}"/>
              </a:ext>
            </a:extLst>
          </p:cNvPr>
          <p:cNvSpPr>
            <a:spLocks noGrp="1"/>
          </p:cNvSpPr>
          <p:nvPr/>
        </p:nvSpPr>
        <p:spPr>
          <a:xfrm>
            <a:off x="3333750" y="4095750"/>
            <a:ext cx="2476500" cy="36195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15EEFB-2666-41C5-905D-F14B500AA6EE}"/>
              </a:ext>
            </a:extLst>
          </p:cNvPr>
          <p:cNvSpPr>
            <a:spLocks noGrp="1"/>
          </p:cNvSpPr>
          <p:nvPr/>
        </p:nvSpPr>
        <p:spPr>
          <a:xfrm>
            <a:off x="3429000" y="41814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1EE683-1577-4432-A49C-E0FA8B986A72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4762500" cy="36195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231C11-AFB9-44F0-B04B-443253310D45}"/>
              </a:ext>
            </a:extLst>
          </p:cNvPr>
          <p:cNvSpPr>
            <a:spLocks noGrp="1"/>
          </p:cNvSpPr>
          <p:nvPr/>
        </p:nvSpPr>
        <p:spPr>
          <a:xfrm>
            <a:off x="5905500" y="4181475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Evidence from project demo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2B50E7-30C6-4D75-AC1F-C61E6EE58D40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5F4A4D-01D9-436B-B1FD-71C16D61792E}"/>
              </a:ext>
            </a:extLst>
          </p:cNvPr>
          <p:cNvSpPr>
            <a:spLocks noGrp="1"/>
          </p:cNvSpPr>
          <p:nvPr/>
        </p:nvSpPr>
        <p:spPr>
          <a:xfrm>
            <a:off x="952500" y="454342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Whisper transcription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F171E5A-EC19-462C-8074-E5A3E3D0DBFA}"/>
              </a:ext>
            </a:extLst>
          </p:cNvPr>
          <p:cNvSpPr>
            <a:spLocks noGrp="1"/>
          </p:cNvSpPr>
          <p:nvPr/>
        </p:nvSpPr>
        <p:spPr>
          <a:xfrm>
            <a:off x="3333750" y="445770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A82CAA-7B07-4CA0-9296-7B289DFE7EAB}"/>
              </a:ext>
            </a:extLst>
          </p:cNvPr>
          <p:cNvSpPr>
            <a:spLocks noGrp="1"/>
          </p:cNvSpPr>
          <p:nvPr/>
        </p:nvSpPr>
        <p:spPr>
          <a:xfrm>
            <a:off x="3429000" y="454342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1C94FE7-575F-4915-A1C9-34B0D39A99E0}"/>
              </a:ext>
            </a:extLst>
          </p:cNvPr>
          <p:cNvSpPr>
            <a:spLocks noGrp="1"/>
          </p:cNvSpPr>
          <p:nvPr/>
        </p:nvSpPr>
        <p:spPr>
          <a:xfrm>
            <a:off x="5810250" y="4457700"/>
            <a:ext cx="4762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9EB614D-8DEF-4B92-BEE4-26E1BA542E09}"/>
              </a:ext>
            </a:extLst>
          </p:cNvPr>
          <p:cNvSpPr>
            <a:spLocks noGrp="1"/>
          </p:cNvSpPr>
          <p:nvPr/>
        </p:nvSpPr>
        <p:spPr>
          <a:xfrm>
            <a:off x="5905500" y="4543425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Audio was converted into a readable visit transcript.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54C6BD4-4441-47E9-A215-F11077D3A1EA}"/>
              </a:ext>
            </a:extLst>
          </p:cNvPr>
          <p:cNvSpPr>
            <a:spLocks noGrp="1"/>
          </p:cNvSpPr>
          <p:nvPr/>
        </p:nvSpPr>
        <p:spPr>
          <a:xfrm>
            <a:off x="857250" y="4819650"/>
            <a:ext cx="2476500" cy="361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AB03D3-1B0F-4B41-8D16-A46F003B0705}"/>
              </a:ext>
            </a:extLst>
          </p:cNvPr>
          <p:cNvSpPr>
            <a:spLocks noGrp="1"/>
          </p:cNvSpPr>
          <p:nvPr/>
        </p:nvSpPr>
        <p:spPr>
          <a:xfrm>
            <a:off x="952500" y="49053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Sentiment analysis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472BCF-D0CA-44BB-B6B0-42D74F639EDF}"/>
              </a:ext>
            </a:extLst>
          </p:cNvPr>
          <p:cNvSpPr>
            <a:spLocks noGrp="1"/>
          </p:cNvSpPr>
          <p:nvPr/>
        </p:nvSpPr>
        <p:spPr>
          <a:xfrm>
            <a:off x="3333750" y="4819650"/>
            <a:ext cx="2476500" cy="361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8D446B-CA1F-445E-B623-7B745385EBB2}"/>
              </a:ext>
            </a:extLst>
          </p:cNvPr>
          <p:cNvSpPr>
            <a:spLocks noGrp="1"/>
          </p:cNvSpPr>
          <p:nvPr/>
        </p:nvSpPr>
        <p:spPr>
          <a:xfrm>
            <a:off x="3429000" y="49053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41416B-772C-4AFC-AE32-82FA94044487}"/>
              </a:ext>
            </a:extLst>
          </p:cNvPr>
          <p:cNvSpPr>
            <a:spLocks noGrp="1"/>
          </p:cNvSpPr>
          <p:nvPr/>
        </p:nvSpPr>
        <p:spPr>
          <a:xfrm>
            <a:off x="5810250" y="4819650"/>
            <a:ext cx="4762500" cy="361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B8D88D-795D-44B0-AB91-C1D56BB3A2DD}"/>
              </a:ext>
            </a:extLst>
          </p:cNvPr>
          <p:cNvSpPr>
            <a:spLocks noGrp="1"/>
          </p:cNvSpPr>
          <p:nvPr/>
        </p:nvSpPr>
        <p:spPr>
          <a:xfrm>
            <a:off x="5905500" y="4905375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Chest-pain conversation returned strong negative compound score.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0D4676-6D0A-4D1E-8F93-82F7AA0571C7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226D9C0-EC07-4F29-AB89-31F1CED13465}"/>
              </a:ext>
            </a:extLst>
          </p:cNvPr>
          <p:cNvSpPr>
            <a:spLocks noGrp="1"/>
          </p:cNvSpPr>
          <p:nvPr/>
        </p:nvSpPr>
        <p:spPr>
          <a:xfrm>
            <a:off x="952500" y="526732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Entity extraction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AB712C-6A2F-48D7-8E6D-5711088AF459}"/>
              </a:ext>
            </a:extLst>
          </p:cNvPr>
          <p:cNvSpPr>
            <a:spLocks noGrp="1"/>
          </p:cNvSpPr>
          <p:nvPr/>
        </p:nvSpPr>
        <p:spPr>
          <a:xfrm>
            <a:off x="3333750" y="5181600"/>
            <a:ext cx="2476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BDEB2E-F453-4604-8E86-812F88D75952}"/>
              </a:ext>
            </a:extLst>
          </p:cNvPr>
          <p:cNvSpPr>
            <a:spLocks noGrp="1"/>
          </p:cNvSpPr>
          <p:nvPr/>
        </p:nvSpPr>
        <p:spPr>
          <a:xfrm>
            <a:off x="3429000" y="526732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 with limits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55106D-8292-478E-87F9-86B5B10BF044}"/>
              </a:ext>
            </a:extLst>
          </p:cNvPr>
          <p:cNvSpPr>
            <a:spLocks noGrp="1"/>
          </p:cNvSpPr>
          <p:nvPr/>
        </p:nvSpPr>
        <p:spPr>
          <a:xfrm>
            <a:off x="5810250" y="5181600"/>
            <a:ext cx="47625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C9F37A2-F548-45B8-9B2C-BD923623C663}"/>
              </a:ext>
            </a:extLst>
          </p:cNvPr>
          <p:cNvSpPr>
            <a:spLocks noGrp="1"/>
          </p:cNvSpPr>
          <p:nvPr/>
        </p:nvSpPr>
        <p:spPr>
          <a:xfrm>
            <a:off x="5905500" y="5267325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Detected names, clinic, dates; generic NER created some noisy entities.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B8FDD5C-7792-4C7D-B228-D37667C5C1E4}"/>
              </a:ext>
            </a:extLst>
          </p:cNvPr>
          <p:cNvSpPr>
            <a:spLocks noGrp="1"/>
          </p:cNvSpPr>
          <p:nvPr/>
        </p:nvSpPr>
        <p:spPr>
          <a:xfrm>
            <a:off x="857250" y="5543550"/>
            <a:ext cx="2476500" cy="361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913478E-5608-4B5A-BAE3-361C1801CC5A}"/>
              </a:ext>
            </a:extLst>
          </p:cNvPr>
          <p:cNvSpPr>
            <a:spLocks noGrp="1"/>
          </p:cNvSpPr>
          <p:nvPr/>
        </p:nvSpPr>
        <p:spPr>
          <a:xfrm>
            <a:off x="952500" y="56292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LLM summary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B85222-87BC-4A49-A332-FFB99B92BD6C}"/>
              </a:ext>
            </a:extLst>
          </p:cNvPr>
          <p:cNvSpPr>
            <a:spLocks noGrp="1"/>
          </p:cNvSpPr>
          <p:nvPr/>
        </p:nvSpPr>
        <p:spPr>
          <a:xfrm>
            <a:off x="3333750" y="5543550"/>
            <a:ext cx="2476500" cy="361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AF858A-47C8-49DB-A8B6-D5E5A1889684}"/>
              </a:ext>
            </a:extLst>
          </p:cNvPr>
          <p:cNvSpPr>
            <a:spLocks noGrp="1"/>
          </p:cNvSpPr>
          <p:nvPr/>
        </p:nvSpPr>
        <p:spPr>
          <a:xfrm>
            <a:off x="3429000" y="56292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Passed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D78A01-986C-42B2-8F49-E90DAFF3587F}"/>
              </a:ext>
            </a:extLst>
          </p:cNvPr>
          <p:cNvSpPr>
            <a:spLocks noGrp="1"/>
          </p:cNvSpPr>
          <p:nvPr/>
        </p:nvSpPr>
        <p:spPr>
          <a:xfrm>
            <a:off x="5810250" y="5543550"/>
            <a:ext cx="4762500" cy="3619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BB97EA6-C1C0-4221-BA72-D3C8C08AC96B}"/>
              </a:ext>
            </a:extLst>
          </p:cNvPr>
          <p:cNvSpPr>
            <a:spLocks noGrp="1"/>
          </p:cNvSpPr>
          <p:nvPr/>
        </p:nvSpPr>
        <p:spPr>
          <a:xfrm>
            <a:off x="5905500" y="5629275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Returned symptoms, follow-up needs, decisions, and important entities.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8539638-23F4-472B-995A-1FA538BB7DE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5BE6203-1AC6-4E24-8A09-3479B0A5F89B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ADDA39-27B3-4E19-9153-5992394D4BE8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161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5364847-578B-45A7-B870-3F38CB085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2B1EE-E209-4A6A-88EC-A24666490B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>
              <a:ext uri="{FF2B5EF4-FFF2-40B4-BE49-F238E27FC236}">
                <a16:creationId xmlns:a16="http://schemas.microsoft.com/office/drawing/2014/main" id="{5F08F15E-BA8F-4AF3-B2FF-7175A1884EFA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>
              <a:ext uri="{FF2B5EF4-FFF2-40B4-BE49-F238E27FC236}">
                <a16:creationId xmlns:a16="http://schemas.microsoft.com/office/drawing/2014/main" id="{1A921F3F-4637-4142-BCC5-0B7731D0B4B2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OUTCOME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DA3D3A-AEC0-405A-83F1-46BA31DFC69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app returns a complete analysis view rather than a single model output.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961F6E-C2B3-4EC0-9913-A0856947085F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4953000" cy="323850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8219D-720A-4377-95F1-4D432EE65A16}"/>
              </a:ext>
            </a:extLst>
          </p:cNvPr>
          <p:cNvSpPr>
            <a:spLocks noGrp="1"/>
          </p:cNvSpPr>
          <p:nvPr/>
        </p:nvSpPr>
        <p:spPr>
          <a:xfrm>
            <a:off x="971550" y="25717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Example outputs from chest-pain visit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683E1-EC37-43A5-B20F-F5BB85EC96B8}"/>
              </a:ext>
            </a:extLst>
          </p:cNvPr>
          <p:cNvSpPr>
            <a:spLocks noGrp="1"/>
          </p:cNvSpPr>
          <p:nvPr/>
        </p:nvSpPr>
        <p:spPr>
          <a:xfrm>
            <a:off x="971550" y="3067050"/>
            <a:ext cx="4000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D9E8E2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D9E8E2"/>
                </a:solidFill>
                <a:latin typeface="Avenir Next"/>
                <a:ea typeface="Avenir Next"/>
                <a:cs typeface="Avenir Next"/>
              </a:rPr>
              <a:t>Patient mentions sharp left-side chest pain, lightheadedness, trouble breathing, palpitations, neck swelling, smoking history, and family history of heart attack.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76D02-3602-4EF7-B193-FDE08F63619E}"/>
              </a:ext>
            </a:extLst>
          </p:cNvPr>
          <p:cNvSpPr>
            <a:spLocks noGrp="1"/>
          </p:cNvSpPr>
          <p:nvPr/>
        </p:nvSpPr>
        <p:spPr>
          <a:xfrm>
            <a:off x="971550" y="4514850"/>
            <a:ext cx="3810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BBD8CF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BBD8CF"/>
                </a:solidFill>
                <a:latin typeface="Avenir Next"/>
                <a:ea typeface="Avenir Next"/>
                <a:cs typeface="Avenir Next"/>
              </a:rPr>
              <a:t>The generated summary organizes this into symptoms, follow-up needs, key decisions, and named entities.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3B81DF-3F68-4C67-B589-1D5178D18439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51EDC1-1207-4E1E-972D-6B0190E9C434}"/>
              </a:ext>
            </a:extLst>
          </p:cNvPr>
          <p:cNvSpPr>
            <a:spLocks noGrp="1"/>
          </p:cNvSpPr>
          <p:nvPr/>
        </p:nvSpPr>
        <p:spPr>
          <a:xfrm>
            <a:off x="6743700" y="2457450"/>
            <a:ext cx="3829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Transcript displayed for review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A6ED97-C75D-4CC9-BBF8-6FC136C508F8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C02B7C-1D53-466B-9DDC-58450E07F235}"/>
              </a:ext>
            </a:extLst>
          </p:cNvPr>
          <p:cNvSpPr>
            <a:spLocks noGrp="1"/>
          </p:cNvSpPr>
          <p:nvPr/>
        </p:nvSpPr>
        <p:spPr>
          <a:xfrm>
            <a:off x="6743700" y="3028950"/>
            <a:ext cx="3829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Sentiment displayed as a compound score and label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E6DA7F-7DBE-4046-9EBB-BFFDA6CBEC18}"/>
              </a:ext>
            </a:extLst>
          </p:cNvPr>
          <p:cNvSpPr>
            <a:spLocks noGrp="1"/>
          </p:cNvSpPr>
          <p:nvPr/>
        </p:nvSpPr>
        <p:spPr>
          <a:xfrm>
            <a:off x="6572250" y="36766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C09770-18BB-4A2F-8F5E-B9CF69469C14}"/>
              </a:ext>
            </a:extLst>
          </p:cNvPr>
          <p:cNvSpPr>
            <a:spLocks noGrp="1"/>
          </p:cNvSpPr>
          <p:nvPr/>
        </p:nvSpPr>
        <p:spPr>
          <a:xfrm>
            <a:off x="6743700" y="3600450"/>
            <a:ext cx="401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Entities grouped into people, organizations, dates, and locations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F782F4-C542-4797-BB9D-0EA1E5450AFC}"/>
              </a:ext>
            </a:extLst>
          </p:cNvPr>
          <p:cNvSpPr>
            <a:spLocks noGrp="1"/>
          </p:cNvSpPr>
          <p:nvPr/>
        </p:nvSpPr>
        <p:spPr>
          <a:xfrm>
            <a:off x="6572250" y="42481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0D77CF-295F-4BA8-8DB7-DC61FAC0C435}"/>
              </a:ext>
            </a:extLst>
          </p:cNvPr>
          <p:cNvSpPr>
            <a:spLocks noGrp="1"/>
          </p:cNvSpPr>
          <p:nvPr/>
        </p:nvSpPr>
        <p:spPr>
          <a:xfrm>
            <a:off x="6743700" y="4171950"/>
            <a:ext cx="401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Speaker segmentation and transcript Q&amp;A support fast review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834F3E-09DE-4535-9F9A-AA930D831E95}"/>
              </a:ext>
            </a:extLst>
          </p:cNvPr>
          <p:cNvSpPr>
            <a:spLocks noGrp="1"/>
          </p:cNvSpPr>
          <p:nvPr/>
        </p:nvSpPr>
        <p:spPr>
          <a:xfrm>
            <a:off x="6572250" y="481965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C9BFC6-FD89-425B-A4C3-414AA2882F7E}"/>
              </a:ext>
            </a:extLst>
          </p:cNvPr>
          <p:cNvSpPr>
            <a:spLocks noGrp="1"/>
          </p:cNvSpPr>
          <p:nvPr/>
        </p:nvSpPr>
        <p:spPr>
          <a:xfrm>
            <a:off x="6743700" y="4743450"/>
            <a:ext cx="4019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LLM summary turns raw transcript into a clinical narrative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168E86-E3FA-46B7-9B7D-D78834C6C61C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2831B8-FD6D-4E59-B4A4-FD5ECD26807F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153C12E-2E6C-4348-9038-0B4C2329D9CF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3406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309056B-9DC5-48E5-8E0C-C77226B7CA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67BB70-C258-4B40-B755-B34731CA52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>
              <a:ext uri="{FF2B5EF4-FFF2-40B4-BE49-F238E27FC236}">
                <a16:creationId xmlns:a16="http://schemas.microsoft.com/office/drawing/2014/main" id="{2F4CEEA8-9942-4D0C-A1AF-4FF4C2B70F2B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>
              <a:ext uri="{FF2B5EF4-FFF2-40B4-BE49-F238E27FC236}">
                <a16:creationId xmlns:a16="http://schemas.microsoft.com/office/drawing/2014/main" id="{57022D4E-607D-4D81-A30A-428C29CED539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EVALUATION FIT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668A3-BCF0-40F4-8635-C21A0D08BD6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project satisfies the cloud assessment by combining practical deployment with technical AI depth.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B46B83-8ABA-4B85-9150-7A5D8083EC22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2667000" cy="51435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D086B3-8E80-422B-9F0A-56F854DF86FB}"/>
              </a:ext>
            </a:extLst>
          </p:cNvPr>
          <p:cNvSpPr>
            <a:spLocks noGrp="1"/>
          </p:cNvSpPr>
          <p:nvPr/>
        </p:nvSpPr>
        <p:spPr>
          <a:xfrm>
            <a:off x="819150" y="2257425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Assessment criterion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C85DF1-3DFB-445E-AEED-74455971B933}"/>
              </a:ext>
            </a:extLst>
          </p:cNvPr>
          <p:cNvSpPr>
            <a:spLocks noGrp="1"/>
          </p:cNvSpPr>
          <p:nvPr/>
        </p:nvSpPr>
        <p:spPr>
          <a:xfrm>
            <a:off x="3390900" y="2171700"/>
            <a:ext cx="7429500" cy="514350"/>
          </a:xfrm>
          <a:prstGeom prst="rect">
            <a:avLst/>
          </a:prstGeom>
          <a:solidFill>
            <a:srgbClr val="10231F"/>
          </a:solidFill>
          <a:ln w="9525">
            <a:solidFill>
              <a:srgbClr val="C8D8D1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23CA4B-1075-401B-86AE-21AF88B6F7AC}"/>
              </a:ext>
            </a:extLst>
          </p:cNvPr>
          <p:cNvSpPr>
            <a:spLocks noGrp="1"/>
          </p:cNvSpPr>
          <p:nvPr/>
        </p:nvSpPr>
        <p:spPr>
          <a:xfrm>
            <a:off x="3486150" y="22574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the final project addresses 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6A6A84-A084-4F96-867E-B9F7214F75C4}"/>
              </a:ext>
            </a:extLst>
          </p:cNvPr>
          <p:cNvSpPr>
            <a:spLocks noGrp="1"/>
          </p:cNvSpPr>
          <p:nvPr/>
        </p:nvSpPr>
        <p:spPr>
          <a:xfrm>
            <a:off x="723900" y="2686050"/>
            <a:ext cx="266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826692-A2FF-49C2-9FE2-7AD073281B5C}"/>
              </a:ext>
            </a:extLst>
          </p:cNvPr>
          <p:cNvSpPr>
            <a:spLocks noGrp="1"/>
          </p:cNvSpPr>
          <p:nvPr/>
        </p:nvSpPr>
        <p:spPr>
          <a:xfrm>
            <a:off x="819150" y="2771775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Cloud concepts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ECD749-3282-4047-A57E-0D49E3F60F8B}"/>
              </a:ext>
            </a:extLst>
          </p:cNvPr>
          <p:cNvSpPr>
            <a:spLocks noGrp="1"/>
          </p:cNvSpPr>
          <p:nvPr/>
        </p:nvSpPr>
        <p:spPr>
          <a:xfrm>
            <a:off x="3390900" y="2686050"/>
            <a:ext cx="7429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1CAEB2-49FA-482B-9C99-3E5E9C8EFDBD}"/>
              </a:ext>
            </a:extLst>
          </p:cNvPr>
          <p:cNvSpPr>
            <a:spLocks noGrp="1"/>
          </p:cNvSpPr>
          <p:nvPr/>
        </p:nvSpPr>
        <p:spPr>
          <a:xfrm>
            <a:off x="3486150" y="277177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Docker image prepared for AWS EC2; remote browser access through port 8501; .env secret management.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7FEA2-7F73-4EE2-BCD9-2BFE0FE78A27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2667000" cy="5143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0DF791-2276-459B-9BA5-AB9BE1F676CB}"/>
              </a:ext>
            </a:extLst>
          </p:cNvPr>
          <p:cNvSpPr>
            <a:spLocks noGrp="1"/>
          </p:cNvSpPr>
          <p:nvPr/>
        </p:nvSpPr>
        <p:spPr>
          <a:xfrm>
            <a:off x="819150" y="3286125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Innovation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0B69C4-6CC7-4EA6-85F1-00463B0D162E}"/>
              </a:ext>
            </a:extLst>
          </p:cNvPr>
          <p:cNvSpPr>
            <a:spLocks noGrp="1"/>
          </p:cNvSpPr>
          <p:nvPr/>
        </p:nvSpPr>
        <p:spPr>
          <a:xfrm>
            <a:off x="3390900" y="3200400"/>
            <a:ext cx="7429500" cy="5143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ACDE58-C4D7-4406-835E-E556791A2256}"/>
              </a:ext>
            </a:extLst>
          </p:cNvPr>
          <p:cNvSpPr>
            <a:spLocks noGrp="1"/>
          </p:cNvSpPr>
          <p:nvPr/>
        </p:nvSpPr>
        <p:spPr>
          <a:xfrm>
            <a:off x="3486150" y="32861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Combines speech-to-text, sentiment, named entities, speaker classification, semantic retrieval, and LLM summarization.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B54DE3-1BED-4413-A780-156A3C412C2B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266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0D0C1C-5592-47DF-9EA9-2167108E89C7}"/>
              </a:ext>
            </a:extLst>
          </p:cNvPr>
          <p:cNvSpPr>
            <a:spLocks noGrp="1"/>
          </p:cNvSpPr>
          <p:nvPr/>
        </p:nvSpPr>
        <p:spPr>
          <a:xfrm>
            <a:off x="819150" y="3800475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Technical proficiency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FC5C84-D0E7-4934-B5C1-271A0C8526FE}"/>
              </a:ext>
            </a:extLst>
          </p:cNvPr>
          <p:cNvSpPr>
            <a:spLocks noGrp="1"/>
          </p:cNvSpPr>
          <p:nvPr/>
        </p:nvSpPr>
        <p:spPr>
          <a:xfrm>
            <a:off x="3390900" y="3714750"/>
            <a:ext cx="7429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662DC4-BBEE-46FF-949E-DE8F261D774E}"/>
              </a:ext>
            </a:extLst>
          </p:cNvPr>
          <p:cNvSpPr>
            <a:spLocks noGrp="1"/>
          </p:cNvSpPr>
          <p:nvPr/>
        </p:nvSpPr>
        <p:spPr>
          <a:xfrm>
            <a:off x="3486150" y="380047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Uses Python, Streamlit, Whisper, spaCy, VADER, scikit-learn, Sentence Transformers, Groq API, Docker.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DCD29-5A82-431E-8067-C0D92928B4FB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2667000" cy="5143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7C35CF-6317-472C-981C-133DF332FABD}"/>
              </a:ext>
            </a:extLst>
          </p:cNvPr>
          <p:cNvSpPr>
            <a:spLocks noGrp="1"/>
          </p:cNvSpPr>
          <p:nvPr/>
        </p:nvSpPr>
        <p:spPr>
          <a:xfrm>
            <a:off x="819150" y="4314825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Execution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97C360-5B45-41B2-BBE1-778E403DC527}"/>
              </a:ext>
            </a:extLst>
          </p:cNvPr>
          <p:cNvSpPr>
            <a:spLocks noGrp="1"/>
          </p:cNvSpPr>
          <p:nvPr/>
        </p:nvSpPr>
        <p:spPr>
          <a:xfrm>
            <a:off x="3390900" y="4229100"/>
            <a:ext cx="7429500" cy="5143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E0CADA-FEEB-46E3-95A7-EE3A8589C9B8}"/>
              </a:ext>
            </a:extLst>
          </p:cNvPr>
          <p:cNvSpPr>
            <a:spLocks noGrp="1"/>
          </p:cNvSpPr>
          <p:nvPr/>
        </p:nvSpPr>
        <p:spPr>
          <a:xfrm>
            <a:off x="3486150" y="431482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Built app package, resolved dependency/deployment issues, tested locally and prepared EC2 commands.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10AFF-DD21-438F-B538-DEAA73C1CFF0}"/>
              </a:ext>
            </a:extLst>
          </p:cNvPr>
          <p:cNvSpPr>
            <a:spLocks noGrp="1"/>
          </p:cNvSpPr>
          <p:nvPr/>
        </p:nvSpPr>
        <p:spPr>
          <a:xfrm>
            <a:off x="723900" y="4743450"/>
            <a:ext cx="266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0D297D-89FF-4961-ABF8-1DA7D0C8E5B4}"/>
              </a:ext>
            </a:extLst>
          </p:cNvPr>
          <p:cNvSpPr>
            <a:spLocks noGrp="1"/>
          </p:cNvSpPr>
          <p:nvPr/>
        </p:nvSpPr>
        <p:spPr>
          <a:xfrm>
            <a:off x="819150" y="4829175"/>
            <a:ext cx="2476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Impact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BF08EB-7E38-4DF6-B143-49211143DFA9}"/>
              </a:ext>
            </a:extLst>
          </p:cNvPr>
          <p:cNvSpPr>
            <a:spLocks noGrp="1"/>
          </p:cNvSpPr>
          <p:nvPr/>
        </p:nvSpPr>
        <p:spPr>
          <a:xfrm>
            <a:off x="3390900" y="4743450"/>
            <a:ext cx="7429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21D219-FDC6-4C90-AA50-02D2C761CEBA}"/>
              </a:ext>
            </a:extLst>
          </p:cNvPr>
          <p:cNvSpPr>
            <a:spLocks noGrp="1"/>
          </p:cNvSpPr>
          <p:nvPr/>
        </p:nvSpPr>
        <p:spPr>
          <a:xfrm>
            <a:off x="3486150" y="482917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Shows how clinical conversations can become structured insights without manual survey-only evaluation.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BB8FC0-9F54-4C4F-A819-F3059CB40579}"/>
              </a:ext>
            </a:extLst>
          </p:cNvPr>
          <p:cNvSpPr>
            <a:spLocks noGrp="1"/>
          </p:cNvSpPr>
          <p:nvPr/>
        </p:nvSpPr>
        <p:spPr>
          <a:xfrm>
            <a:off x="8620125" y="781050"/>
            <a:ext cx="2286000" cy="857250"/>
          </a:xfrm>
          <a:prstGeom prst="rect">
            <a:avLst/>
          </a:prstGeom>
          <a:solidFill>
            <a:srgbClr val="EDF5F1"/>
          </a:solidFill>
          <a:ln w="9525">
            <a:solidFill>
              <a:srgbClr val="C8D8D1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1FF25B-6FD6-4E97-9B7C-43F2BD41B71B}"/>
              </a:ext>
            </a:extLst>
          </p:cNvPr>
          <p:cNvSpPr>
            <a:spLocks noGrp="1"/>
          </p:cNvSpPr>
          <p:nvPr/>
        </p:nvSpPr>
        <p:spPr>
          <a:xfrm>
            <a:off x="8858250" y="990600"/>
            <a:ext cx="179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Submission angle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BB060-136D-42F0-8818-63F79DCDCF2B}"/>
              </a:ext>
            </a:extLst>
          </p:cNvPr>
          <p:cNvSpPr>
            <a:spLocks noGrp="1"/>
          </p:cNvSpPr>
          <p:nvPr/>
        </p:nvSpPr>
        <p:spPr>
          <a:xfrm>
            <a:off x="8858250" y="12573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Practical cloud project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973FA6-D409-4D95-BE37-CE86D9B0B71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15AD60-249B-40B0-95C3-FD8482B7EAB9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42B901-1AD0-47B8-B374-C572ACBB2452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6263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43CC26B-193B-4DCD-BFDD-4194E802D5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06485-5967-46F6-87D1-C77F88FC4B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>
              <a:ext uri="{FF2B5EF4-FFF2-40B4-BE49-F238E27FC236}">
                <a16:creationId xmlns:a16="http://schemas.microsoft.com/office/drawing/2014/main" id="{F3767222-2D8F-48E7-B55F-268E714845EF}"/>
              </a:ext>
            </a:extLst>
          </p:cNvPr>
          <p:cNvSpPr>
            <a:spLocks noGrp="1"/>
          </p:cNvSpPr>
          <p:nvPr/>
        </p:nvSpPr>
        <p:spPr>
          <a:xfrm>
            <a:off x="552450" y="466725"/>
            <a:ext cx="85725" cy="857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>
              <a:ext uri="{FF2B5EF4-FFF2-40B4-BE49-F238E27FC236}">
                <a16:creationId xmlns:a16="http://schemas.microsoft.com/office/drawing/2014/main" id="{9DD63AFD-E584-4647-AF90-D9F7B3E29A06}"/>
              </a:ext>
            </a:extLst>
          </p:cNvPr>
          <p:cNvSpPr>
            <a:spLocks noGrp="1"/>
          </p:cNvSpPr>
          <p:nvPr/>
        </p:nvSpPr>
        <p:spPr>
          <a:xfrm>
            <a:off x="762000" y="409575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LIMITS AND FUTURE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D637CC-C5BD-4A10-B5D9-4F51A5382C4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191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prototype works for demonstration, but production healthcare use would require stronger controls.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A9B6F3-528F-4C07-9F25-1C52061AAAD4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45720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8D1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6936DB-42FD-498E-A694-42058389D282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266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Current limitations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4C268-F2B7-479A-A42A-86725AE0ECD9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11BDD-2460-4DB7-9079-7312A8E1C362}"/>
              </a:ext>
            </a:extLst>
          </p:cNvPr>
          <p:cNvSpPr>
            <a:spLocks noGrp="1"/>
          </p:cNvSpPr>
          <p:nvPr/>
        </p:nvSpPr>
        <p:spPr>
          <a:xfrm>
            <a:off x="1219200" y="3162300"/>
            <a:ext cx="3448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Uses synthetic or de-identified sample conversations only.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D5C4A7-C212-46F7-84C9-D636823FEFBC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F1F2E7-D843-43ED-9848-63DD84448D32}"/>
              </a:ext>
            </a:extLst>
          </p:cNvPr>
          <p:cNvSpPr>
            <a:spLocks noGrp="1"/>
          </p:cNvSpPr>
          <p:nvPr/>
        </p:nvSpPr>
        <p:spPr>
          <a:xfrm>
            <a:off x="1219200" y="3733800"/>
            <a:ext cx="3448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Speaker classifier is trained on a very small example set.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582245-6403-4BB0-BE02-5074733C6C02}"/>
              </a:ext>
            </a:extLst>
          </p:cNvPr>
          <p:cNvSpPr>
            <a:spLocks noGrp="1"/>
          </p:cNvSpPr>
          <p:nvPr/>
        </p:nvSpPr>
        <p:spPr>
          <a:xfrm>
            <a:off x="1047750" y="4381500"/>
            <a:ext cx="47625" cy="4762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F4B4E9-0058-477C-86E3-1CB2DBF8938A}"/>
              </a:ext>
            </a:extLst>
          </p:cNvPr>
          <p:cNvSpPr>
            <a:spLocks noGrp="1"/>
          </p:cNvSpPr>
          <p:nvPr/>
        </p:nvSpPr>
        <p:spPr>
          <a:xfrm>
            <a:off x="1219200" y="4305300"/>
            <a:ext cx="3448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13201B"/>
                </a:solidFill>
                <a:latin typeface="Avenir Next"/>
                <a:ea typeface="Avenir Next"/>
                <a:cs typeface="Avenir Next"/>
              </a:rPr>
              <a:t>Generic spaCy NER can detect noisy healthcare entities.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B03CD0-5B83-4668-9A51-A0448A3D3C5A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4572000" cy="276225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A1CF69-FD9D-4349-B504-44DC94030DD1}"/>
              </a:ext>
            </a:extLst>
          </p:cNvPr>
          <p:cNvSpPr>
            <a:spLocks noGrp="1"/>
          </p:cNvSpPr>
          <p:nvPr/>
        </p:nvSpPr>
        <p:spPr>
          <a:xfrm>
            <a:off x="6686550" y="26670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D983B6-B992-4822-999A-EA08EFB11595}"/>
              </a:ext>
            </a:extLst>
          </p:cNvPr>
          <p:cNvSpPr>
            <a:spLocks noGrp="1"/>
          </p:cNvSpPr>
          <p:nvPr/>
        </p:nvSpPr>
        <p:spPr>
          <a:xfrm>
            <a:off x="6686550" y="3238500"/>
            <a:ext cx="47625" cy="4762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2C91F4-4A61-4DD0-80E3-AB660B075345}"/>
              </a:ext>
            </a:extLst>
          </p:cNvPr>
          <p:cNvSpPr>
            <a:spLocks noGrp="1"/>
          </p:cNvSpPr>
          <p:nvPr/>
        </p:nvSpPr>
        <p:spPr>
          <a:xfrm>
            <a:off x="6858000" y="3162300"/>
            <a:ext cx="3448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Authentication, encryption, and audit logging.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BBAA40-F83F-4DC5-A905-C5493B516E64}"/>
              </a:ext>
            </a:extLst>
          </p:cNvPr>
          <p:cNvSpPr>
            <a:spLocks noGrp="1"/>
          </p:cNvSpPr>
          <p:nvPr/>
        </p:nvSpPr>
        <p:spPr>
          <a:xfrm>
            <a:off x="6686550" y="3810000"/>
            <a:ext cx="47625" cy="4762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E71A9F-29D9-4AB8-9B8F-704546FBFA78}"/>
              </a:ext>
            </a:extLst>
          </p:cNvPr>
          <p:cNvSpPr>
            <a:spLocks noGrp="1"/>
          </p:cNvSpPr>
          <p:nvPr/>
        </p:nvSpPr>
        <p:spPr>
          <a:xfrm>
            <a:off x="6858000" y="3733800"/>
            <a:ext cx="3448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HIPAA-aware storage and access-control design.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B23177-A857-4B6A-BC52-7360001BD1F6}"/>
              </a:ext>
            </a:extLst>
          </p:cNvPr>
          <p:cNvSpPr>
            <a:spLocks noGrp="1"/>
          </p:cNvSpPr>
          <p:nvPr/>
        </p:nvSpPr>
        <p:spPr>
          <a:xfrm>
            <a:off x="6686550" y="4381500"/>
            <a:ext cx="47625" cy="4762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7AC14C-2450-4354-BC8B-FC70E25F3410}"/>
              </a:ext>
            </a:extLst>
          </p:cNvPr>
          <p:cNvSpPr>
            <a:spLocks noGrp="1"/>
          </p:cNvSpPr>
          <p:nvPr/>
        </p:nvSpPr>
        <p:spPr>
          <a:xfrm>
            <a:off x="6858000" y="4305300"/>
            <a:ext cx="3448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Clinical NER model and larger speaker-role dataset.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7BC10-6840-422D-B62D-9BF795EE1ED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29B7CB-FFC3-45F4-A667-766B12AA295E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Clinical Conversation Analysis | Practical Cloud Computing Project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A84BD-B265-41BC-B7A3-062248D51C22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8238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9AFF75-12A0-4288-BDAD-90D976A7E1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1801D1-C41A-4281-AA7A-6965347BF8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722DE-7421-4D40-9606-A22D8609E2A5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CBBAF4-0BE6-4DF7-B228-1D7A6373797C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8001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The final outcome is a working cloud-ready AI healthcare conversation analysis system.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8D5168-F9C6-4C96-A401-33C69AAB84D2}"/>
              </a:ext>
            </a:extLst>
          </p:cNvPr>
          <p:cNvSpPr>
            <a:spLocks noGrp="1"/>
          </p:cNvSpPr>
          <p:nvPr/>
        </p:nvSpPr>
        <p:spPr>
          <a:xfrm>
            <a:off x="571500" y="2914650"/>
            <a:ext cx="7620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The project bridges clinical conversation data and healthcare intelligence by combining NLP, machine learning, LLM APIs, Docker packaging, and AWS EC2 deployment planning.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F0D33-E52D-4B76-B7F7-751AE1E04A37}"/>
              </a:ext>
            </a:extLst>
          </p:cNvPr>
          <p:cNvSpPr>
            <a:spLocks noGrp="1"/>
          </p:cNvSpPr>
          <p:nvPr/>
        </p:nvSpPr>
        <p:spPr>
          <a:xfrm>
            <a:off x="8858250" y="1104900"/>
            <a:ext cx="2333625" cy="3143250"/>
          </a:xfrm>
          <a:prstGeom prst="rect">
            <a:avLst/>
          </a:prstGeom>
          <a:solidFill>
            <a:srgbClr val="1023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EF18A3-4E43-4E14-BED2-E52C9D89037B}"/>
              </a:ext>
            </a:extLst>
          </p:cNvPr>
          <p:cNvSpPr>
            <a:spLocks noGrp="1"/>
          </p:cNvSpPr>
          <p:nvPr/>
        </p:nvSpPr>
        <p:spPr>
          <a:xfrm>
            <a:off x="9144000" y="14287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deliverables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5B5E11-44C1-4F55-BE5C-B91BFF1E6F79}"/>
              </a:ext>
            </a:extLst>
          </p:cNvPr>
          <p:cNvSpPr>
            <a:spLocks noGrp="1"/>
          </p:cNvSpPr>
          <p:nvPr/>
        </p:nvSpPr>
        <p:spPr>
          <a:xfrm>
            <a:off x="9144000" y="1962150"/>
            <a:ext cx="180975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Streamlit app</a:t>
            </a:r>
          </a:p>
          <a:p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Dockerfile</a:t>
            </a:r>
          </a:p>
          <a:p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EC2 deployment guide</a:t>
            </a:r>
          </a:p>
          <a:p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Project proposal</a:t>
            </a:r>
          </a:p>
          <a:p>
            <a:pPr algn="ctr">
              <a:defRPr sz="1500" b="1">
                <a:solidFill>
                  <a:srgbClr val="D9E8E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D9E8E2"/>
                </a:solidFill>
                <a:latin typeface="Georgia"/>
                <a:ea typeface="Georgia"/>
                <a:cs typeface="Georgia"/>
              </a:rPr>
              <a:t>Final demo deck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10899-C137-45E0-A145-9AC552CD5B1D}"/>
              </a:ext>
            </a:extLst>
          </p:cNvPr>
          <p:cNvSpPr>
            <a:spLocks noGrp="1"/>
          </p:cNvSpPr>
          <p:nvPr/>
        </p:nvSpPr>
        <p:spPr>
          <a:xfrm>
            <a:off x="552450" y="4810125"/>
            <a:ext cx="2333625" cy="28575"/>
          </a:xfrm>
          <a:prstGeom prst="rect">
            <a:avLst/>
          </a:prstGeom>
          <a:solidFill>
            <a:srgbClr val="157A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C48CCE-6345-4FB2-93D8-C6E2BCA64B41}"/>
              </a:ext>
            </a:extLst>
          </p:cNvPr>
          <p:cNvSpPr>
            <a:spLocks noGrp="1"/>
          </p:cNvSpPr>
          <p:nvPr/>
        </p:nvSpPr>
        <p:spPr>
          <a:xfrm>
            <a:off x="552450" y="4962525"/>
            <a:ext cx="23336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Accessible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04560A-4719-46DE-B150-E6CA901F51CF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333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CLOUD VALUE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064E5-D7D5-4701-BF2E-051B2E46868F}"/>
              </a:ext>
            </a:extLst>
          </p:cNvPr>
          <p:cNvSpPr>
            <a:spLocks noGrp="1"/>
          </p:cNvSpPr>
          <p:nvPr/>
        </p:nvSpPr>
        <p:spPr>
          <a:xfrm>
            <a:off x="552450" y="5591175"/>
            <a:ext cx="2333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Browser-based interface for remote 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6C1DB-0B1D-41A6-8C3C-93FD2E2E4389}"/>
              </a:ext>
            </a:extLst>
          </p:cNvPr>
          <p:cNvSpPr>
            <a:spLocks noGrp="1"/>
          </p:cNvSpPr>
          <p:nvPr/>
        </p:nvSpPr>
        <p:spPr>
          <a:xfrm>
            <a:off x="3429000" y="4810125"/>
            <a:ext cx="2428875" cy="28575"/>
          </a:xfrm>
          <a:prstGeom prst="rect">
            <a:avLst/>
          </a:prstGeom>
          <a:solidFill>
            <a:srgbClr val="C56E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0416A3-B85E-482A-B9EE-9261547795D4}"/>
              </a:ext>
            </a:extLst>
          </p:cNvPr>
          <p:cNvSpPr>
            <a:spLocks noGrp="1"/>
          </p:cNvSpPr>
          <p:nvPr/>
        </p:nvSpPr>
        <p:spPr>
          <a:xfrm>
            <a:off x="3429000" y="4962525"/>
            <a:ext cx="2428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Integrated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595752-CE02-40FB-811E-8CCA1038D9D3}"/>
              </a:ext>
            </a:extLst>
          </p:cNvPr>
          <p:cNvSpPr>
            <a:spLocks noGrp="1"/>
          </p:cNvSpPr>
          <p:nvPr/>
        </p:nvSpPr>
        <p:spPr>
          <a:xfrm>
            <a:off x="3429000" y="5400675"/>
            <a:ext cx="2428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AI 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491F3-B341-4FF5-8BEF-6CD628961CA6}"/>
              </a:ext>
            </a:extLst>
          </p:cNvPr>
          <p:cNvSpPr>
            <a:spLocks noGrp="1"/>
          </p:cNvSpPr>
          <p:nvPr/>
        </p:nvSpPr>
        <p:spPr>
          <a:xfrm>
            <a:off x="3429000" y="559117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Speech, NLP, retrieval, and LLM summary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1EFE03-D897-4F2F-AF9E-6327074D13DB}"/>
              </a:ext>
            </a:extLst>
          </p:cNvPr>
          <p:cNvSpPr>
            <a:spLocks noGrp="1"/>
          </p:cNvSpPr>
          <p:nvPr/>
        </p:nvSpPr>
        <p:spPr>
          <a:xfrm>
            <a:off x="6429375" y="4810125"/>
            <a:ext cx="2428875" cy="28575"/>
          </a:xfrm>
          <a:prstGeom prst="rect">
            <a:avLst/>
          </a:prstGeom>
          <a:solidFill>
            <a:srgbClr val="E7B7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09B2DD-4EC6-419B-9D93-D8DC14BB441B}"/>
              </a:ext>
            </a:extLst>
          </p:cNvPr>
          <p:cNvSpPr>
            <a:spLocks noGrp="1"/>
          </p:cNvSpPr>
          <p:nvPr/>
        </p:nvSpPr>
        <p:spPr>
          <a:xfrm>
            <a:off x="6429375" y="4962525"/>
            <a:ext cx="242887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3201B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13201B"/>
                </a:solidFill>
                <a:latin typeface="Georgia"/>
                <a:ea typeface="Georgia"/>
                <a:cs typeface="Georgia"/>
              </a:rPr>
              <a:t>Useful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D3DF08-FF99-4F72-946B-81CDA829625A}"/>
              </a:ext>
            </a:extLst>
          </p:cNvPr>
          <p:cNvSpPr>
            <a:spLocks noGrp="1"/>
          </p:cNvSpPr>
          <p:nvPr/>
        </p:nvSpPr>
        <p:spPr>
          <a:xfrm>
            <a:off x="6429375" y="5400675"/>
            <a:ext cx="24288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HEALTHCARE VALUE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017BF6-A983-418A-AC5F-A9576F4FCFE9}"/>
              </a:ext>
            </a:extLst>
          </p:cNvPr>
          <p:cNvSpPr>
            <a:spLocks noGrp="1"/>
          </p:cNvSpPr>
          <p:nvPr/>
        </p:nvSpPr>
        <p:spPr>
          <a:xfrm>
            <a:off x="6429375" y="5591175"/>
            <a:ext cx="24288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Faster review of conversation 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786C3B-B599-45A7-86E4-AD8C2B84263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9525"/>
          </a:xfrm>
          <a:prstGeom prst="rect">
            <a:avLst/>
          </a:prstGeom>
          <a:solidFill>
            <a:srgbClr val="C8D8D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612BE1-4D63-4932-9B49-545836122AD0}"/>
              </a:ext>
            </a:extLst>
          </p:cNvPr>
          <p:cNvSpPr>
            <a:spLocks noGrp="1"/>
          </p:cNvSpPr>
          <p:nvPr/>
        </p:nvSpPr>
        <p:spPr>
          <a:xfrm>
            <a:off x="552450" y="6572250"/>
            <a:ext cx="819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5E6F68"/>
                </a:solidFill>
                <a:latin typeface="Avenir Next"/>
                <a:ea typeface="Avenir Next"/>
                <a:cs typeface="Avenir Next"/>
              </a:rPr>
              <a:t>Final project outcome summary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79B960-ADD8-4EA4-B493-E8974566E9F0}"/>
              </a:ext>
            </a:extLst>
          </p:cNvPr>
          <p:cNvSpPr>
            <a:spLocks noGrp="1"/>
          </p:cNvSpPr>
          <p:nvPr/>
        </p:nvSpPr>
        <p:spPr>
          <a:xfrm>
            <a:off x="11191875" y="6534150"/>
            <a:ext cx="457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5E6F68"/>
                </a:solidFill>
                <a:latin typeface="Georgia"/>
                <a:ea typeface="Georgia"/>
                <a:cs typeface="Georgia"/>
              </a:defRPr>
            </a:pPr>
            <a:r>
              <a:rPr sz="900" b="1">
                <a:solidFill>
                  <a:srgbClr val="5E6F68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72304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Macintosh PowerPoint</Application>
  <DocSecurity>0</DocSecurity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Avenir Next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Abhinav Narote</cp:lastModifiedBy>
  <cp:revision>1</cp:revision>
  <dcterms:created xsi:type="dcterms:W3CDTF">2026-05-05T02:38:22Z</dcterms:created>
  <dcterms:modified xsi:type="dcterms:W3CDTF">2026-05-05T04:23:12Z</dcterms:modified>
</cp:coreProperties>
</file>