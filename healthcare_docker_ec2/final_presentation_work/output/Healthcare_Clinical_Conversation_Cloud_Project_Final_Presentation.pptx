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87d4a474144ac5" /><Relationship Type="http://schemas.openxmlformats.org/officeDocument/2006/relationships/extended-properties" Target="/docProps/app.xml" Id="Reffadcb4267048d4" /><Relationship Type="http://schemas.openxmlformats.org/officeDocument/2006/relationships/officeDocument" Target="/ppt/presentation.xml" Id="Rfca5e770aea545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7d503d7b74e12"/>
  </p:sldMasterIdLst>
  <p:notesMasterIdLst>
    <p:notesMasterId xmlns:r="http://schemas.openxmlformats.org/officeDocument/2006/relationships" r:id="Re500c97ec4574891"/>
  </p:notesMasterIdLst>
  <p:sldIdLst>
    <p:sldId xmlns:r="http://schemas.openxmlformats.org/officeDocument/2006/relationships" id="256" r:id="Ra5ab16be308b49ef"/>
    <p:sldId xmlns:r="http://schemas.openxmlformats.org/officeDocument/2006/relationships" id="257" r:id="Ra3c5b25b2816453f"/>
    <p:sldId xmlns:r="http://schemas.openxmlformats.org/officeDocument/2006/relationships" id="258" r:id="R7bc687d5e28d4f3b"/>
    <p:sldId xmlns:r="http://schemas.openxmlformats.org/officeDocument/2006/relationships" id="259" r:id="R1125450546754582"/>
    <p:sldId xmlns:r="http://schemas.openxmlformats.org/officeDocument/2006/relationships" id="260" r:id="Reab06246d0604868"/>
    <p:sldId xmlns:r="http://schemas.openxmlformats.org/officeDocument/2006/relationships" id="261" r:id="R50c57e9eaf9540e8"/>
    <p:sldId xmlns:r="http://schemas.openxmlformats.org/officeDocument/2006/relationships" id="262" r:id="Reddd9df3d7554f0c"/>
    <p:sldId xmlns:r="http://schemas.openxmlformats.org/officeDocument/2006/relationships" id="263" r:id="Rb6a07df6c0644060"/>
    <p:sldId xmlns:r="http://schemas.openxmlformats.org/officeDocument/2006/relationships" id="264" r:id="Ra276840c813f4d5f"/>
    <p:sldId xmlns:r="http://schemas.openxmlformats.org/officeDocument/2006/relationships" id="265" r:id="Ra2f10bfc89bb4c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7d503d7b74e12" /><Relationship Type="http://schemas.openxmlformats.org/officeDocument/2006/relationships/theme" Target="/ppt/theme/theme1.xml" Id="R663c0b9dd48742c9" /><Relationship Type="http://schemas.openxmlformats.org/officeDocument/2006/relationships/notesMaster" Target="/ppt/notesMasters/notesMaster1.xml" Id="Re500c97ec4574891" /><Relationship Type="http://schemas.openxmlformats.org/officeDocument/2006/relationships/presProps" Target="/ppt/presProps.xml" Id="R0fde9512fe5f49fd" /><Relationship Type="http://schemas.openxmlformats.org/officeDocument/2006/relationships/viewProps" Target="/ppt/viewProps.xml" Id="Rc7921a87c7dd4750" /><Relationship Type="http://schemas.openxmlformats.org/officeDocument/2006/relationships/tableStyles" Target="/ppt/tableStyles.xml" Id="R61a537191e704f90" /><Relationship Type="http://schemas.openxmlformats.org/officeDocument/2006/relationships/slide" Target="/ppt/slides/slide1.xml" Id="Ra5ab16be308b49ef" /><Relationship Type="http://schemas.openxmlformats.org/officeDocument/2006/relationships/slide" Target="/ppt/slides/slide2.xml" Id="Ra3c5b25b2816453f" /><Relationship Type="http://schemas.openxmlformats.org/officeDocument/2006/relationships/slide" Target="/ppt/slides/slide3.xml" Id="R7bc687d5e28d4f3b" /><Relationship Type="http://schemas.openxmlformats.org/officeDocument/2006/relationships/slide" Target="/ppt/slides/slide4.xml" Id="R1125450546754582" /><Relationship Type="http://schemas.openxmlformats.org/officeDocument/2006/relationships/slide" Target="/ppt/slides/slide5.xml" Id="Reab06246d0604868" /><Relationship Type="http://schemas.openxmlformats.org/officeDocument/2006/relationships/slide" Target="/ppt/slides/slide6.xml" Id="R50c57e9eaf9540e8" /><Relationship Type="http://schemas.openxmlformats.org/officeDocument/2006/relationships/slide" Target="/ppt/slides/slide7.xml" Id="Reddd9df3d7554f0c" /><Relationship Type="http://schemas.openxmlformats.org/officeDocument/2006/relationships/slide" Target="/ppt/slides/slide8.xml" Id="Rb6a07df6c0644060" /><Relationship Type="http://schemas.openxmlformats.org/officeDocument/2006/relationships/slide" Target="/ppt/slides/slide9.xml" Id="Ra276840c813f4d5f" /><Relationship Type="http://schemas.openxmlformats.org/officeDocument/2006/relationships/slide" Target="/ppt/slides/slide10.xml" Id="Ra2f10bfc89bb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5bb7ce342c4e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c5eeae9aa4513" /><Relationship Type="http://schemas.openxmlformats.org/officeDocument/2006/relationships/notesMaster" Target="/ppt/notesMasters/notesMaster1.xml" Id="R0263dd112a104c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8b9b5d4f6c414c" /><Relationship Type="http://schemas.openxmlformats.org/officeDocument/2006/relationships/notesMaster" Target="/ppt/notesMasters/notesMaster1.xml" Id="Rd2363a9d71a0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864d826a24d67" /><Relationship Type="http://schemas.openxmlformats.org/officeDocument/2006/relationships/notesMaster" Target="/ppt/notesMasters/notesMaster1.xml" Id="R0f78712ecbff4a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dd353b37d5450e" /><Relationship Type="http://schemas.openxmlformats.org/officeDocument/2006/relationships/notesMaster" Target="/ppt/notesMasters/notesMaster1.xml" Id="R689e06c6d10e4a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3cc39a241d4966" /><Relationship Type="http://schemas.openxmlformats.org/officeDocument/2006/relationships/notesMaster" Target="/ppt/notesMasters/notesMaster1.xml" Id="R19b8c1c0633c4c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bb2245f978439c" /><Relationship Type="http://schemas.openxmlformats.org/officeDocument/2006/relationships/notesMaster" Target="/ppt/notesMasters/notesMaster1.xml" Id="R7690198281b44f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984255ec514870" /><Relationship Type="http://schemas.openxmlformats.org/officeDocument/2006/relationships/notesMaster" Target="/ppt/notesMasters/notesMaster1.xml" Id="R0bb757e1643240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1bb40b3f2f4edd" /><Relationship Type="http://schemas.openxmlformats.org/officeDocument/2006/relationships/notesMaster" Target="/ppt/notesMasters/notesMaster1.xml" Id="Ra029c2c3fc144e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8abaf9058c43b6" /><Relationship Type="http://schemas.openxmlformats.org/officeDocument/2006/relationships/notesMaster" Target="/ppt/notesMasters/notesMaster1.xml" Id="Rac0bd4e538ec49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8a5a82eb744901" /><Relationship Type="http://schemas.openxmlformats.org/officeDocument/2006/relationships/notesMaster" Target="/ppt/notesMasters/notesMaster1.xml" Id="R679bd6eb98844f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a40a533db4e9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5015e067dc44fba" /><Relationship Type="http://schemas.openxmlformats.org/officeDocument/2006/relationships/slideLayout" Target="/ppt/slideLayouts/slideLayout2.xml" Id="R951cca755136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1cca755136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11f0f7319c4814" /><Relationship Type="http://schemas.openxmlformats.org/officeDocument/2006/relationships/notesSlide" Target="/ppt/notesSlides/notesSlide1.xml" Id="R68c034f081e84e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33c5dd6d474697" /><Relationship Type="http://schemas.openxmlformats.org/officeDocument/2006/relationships/notesSlide" Target="/ppt/notesSlides/notesSlide2.xml" Id="R183faccc7d5a41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485913b92349a6" /><Relationship Type="http://schemas.openxmlformats.org/officeDocument/2006/relationships/notesSlide" Target="/ppt/notesSlides/notesSlide3.xml" Id="R7b5e855557c049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d6cc220fe741c2" /><Relationship Type="http://schemas.openxmlformats.org/officeDocument/2006/relationships/notesSlide" Target="/ppt/notesSlides/notesSlide4.xml" Id="Re9d6523b24a34e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a7fa3882374263" /><Relationship Type="http://schemas.openxmlformats.org/officeDocument/2006/relationships/notesSlide" Target="/ppt/notesSlides/notesSlide5.xml" Id="Re0ce5d6ce28f44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27830e9760422c" /><Relationship Type="http://schemas.openxmlformats.org/officeDocument/2006/relationships/notesSlide" Target="/ppt/notesSlides/notesSlide6.xml" Id="R51f5bc60b8ed48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4bc5909f7c47fa" /><Relationship Type="http://schemas.openxmlformats.org/officeDocument/2006/relationships/notesSlide" Target="/ppt/notesSlides/notesSlide7.xml" Id="R9206dc82bd5d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5083d355c94a16" /><Relationship Type="http://schemas.openxmlformats.org/officeDocument/2006/relationships/notesSlide" Target="/ppt/notesSlides/notesSlide8.xml" Id="R588a298ee9574d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865de79ea4b10" /><Relationship Type="http://schemas.openxmlformats.org/officeDocument/2006/relationships/notesSlide" Target="/ppt/notesSlides/notesSlide9.xml" Id="R1a82d21f4db346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72c67edb4144d3" /><Relationship Type="http://schemas.openxmlformats.org/officeDocument/2006/relationships/notesSlide" Target="/ppt/notesSlides/notesSlide10.xml" Id="Rc3ab9382294141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49E690-58ED-4C3C-B5C5-24AB1FFC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69A0E-957B-4F96-8A17-344047A1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B978C-AAB9-4F55-954F-D1339DC4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E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58CE8-A7B7-4389-83E7-93656113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FINAL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E847A-705B-4B42-B71C-BA451A2E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858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Cloud-Based Healthcare Clinical Conversation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78567-BDF1-4E76-81E3-1BF51C1D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 deployed AI pipeline for turning doctor-patient conversations into transcription, sentiment, entities, summaries, and transcript-based Q&amp;A.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47BE5-0A82-4094-8E92-AD8420F0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14400"/>
            <a:ext cx="2990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B1A2A-A89C-4BA8-80F6-981DBE71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57300"/>
            <a:ext cx="2333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BD8C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BBD8CF"/>
                </a:solidFill>
                <a:latin typeface="Avenir Next"/>
                <a:ea typeface="Avenir Next"/>
                <a:cs typeface="Avenir Next"/>
              </a:rPr>
              <a:t>PROJECT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E8D52-A113-4991-BEEC-B2269F94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362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Streamlit app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packaged for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Docker + AWS EC2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EF785-C933-43FD-8FAF-40ED4711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FE2D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CFE2DC"/>
                </a:solidFill>
                <a:latin typeface="Avenir Next"/>
                <a:ea typeface="Avenir Next"/>
                <a:cs typeface="Avenir Next"/>
              </a:rPr>
              <a:t>Prototype uses synthetic or de-identified conversations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2863B-4D1E-42AD-BF0C-B1D5018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DD833-4200-4D87-9001-7AAB0FA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006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B4C7A-0448-4A18-B7E7-1E61FF66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AI/NLP LAYERS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5C07D-A566-4A75-B449-A779A8E2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Whisper, VADER, spaCy, ML, embeddings,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C03DF-EBA3-4186-AF23-2A824F57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E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CA1E9-175C-420C-BCEA-0F33F849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006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80C1D-6770-4792-8712-78C428A7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38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INPUT MODES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DAA05-BF56-49E3-BE69-F88709D2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293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Text and MP3 clinical conversations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D0F39-74DF-4CB7-8DEA-2FAC27A7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482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DF16E6-749C-4D0B-B771-A17EBCF8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006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D7C50-4433-4821-8D11-B223B337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388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CLOUD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77A85-18A1-44BC-9BD4-5C440BEB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29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AWS EC2 container deployment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549C5-8C06-4FE1-AD37-5D27A919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482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BC389-50E9-40D4-8FF5-8370054F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00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329898-7BF7-46D2-8247-C74D312B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638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DEMO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B57286-531C-401B-8247-54E106C7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829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Browser-accessible Streamlit interface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C790E-90C5-4288-B4FB-0DFC684D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C68F0-A162-4655-9F31-E510D748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189F27-5AB7-480B-B854-D462228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13624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85CF6-E641-45CC-8ACF-1E623774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D6BB4-F0DE-4DA8-9659-55DC3E92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1DB587EA-F50A-494A-8397-A85DA4CC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96BA00F4-C23A-42F0-92C8-3A1C0212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DE488-47F0-4487-8D9B-979C84E3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Clinical conversations contain high-value signals, but most of them stay unstructured.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3EB78-5461-463D-BB0C-4B9D5A2E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The project targets the gap between spoken clinical encounters and usable healthcare intelligence.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89C6C-0642-43C5-BC12-BD31311B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49530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9125F-A580-42D2-9385-1B813769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Current workflow pain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4082C-0CE8-4E6A-A480-772818C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EC834-B06E-4E8F-B2EF-E8DF3423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Doctors manually document important details after visits.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AB288-BE28-4609-AE1E-6D0BB401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69DA6-8A44-433A-9C68-47BD1ED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Symptoms, decisions, and follow-up needs can be missed.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8BDCF-4E83-415C-BC49-19B6CAA1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8B5EA-64D9-43DF-B4F3-DF7A4A32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3924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Patient feedback is often delayed and survey-based.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F008C-11BD-471F-9EA4-89DA5987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114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138D8-A912-4226-BFB7-3C9B89B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BD8C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BBD8CF"/>
                </a:solidFill>
                <a:latin typeface="Avenir Next"/>
                <a:ea typeface="Avenir Next"/>
                <a:cs typeface="Avenir Next"/>
              </a:rPr>
              <a:t>Project 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A8F1A-625F-479D-A08D-209035BB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147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Can cloud-hosted AI analyze clinical conversations and return useful insights through a browser?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1629E-5B09-48A3-9B4F-E950FF79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C59CA-1EEB-4381-8A2B-3A50B831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62A99-0965-4DA4-84FE-F866308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98765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8F035-6969-4929-8BEB-182072CE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15DB6-D3E7-4B91-89AA-E53233F7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3D3333A4-42AF-42E1-BF6B-E8E40092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AE0981CF-1CA2-49C4-9BD6-4FA726F7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4DD09-DD91-4BDC-B428-91C52988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Uploaded conversations become structured clinical intelligence.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CD79D-078B-4989-8C21-550F4BFD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The Streamlit interface connects file upload, NLP processing, ML classification, retrieval, and LLM output in one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709AB-0AC8-4B63-AD25-FD05E4DC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36C73-2539-4A77-8A59-64AFA119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4DE08-60D8-4EBB-9CC9-007A7AE4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FD762-6577-4463-B0A3-52EBDACE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.txt or .mp3 conversation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4AA90-BCB1-4A04-9865-CBE51BE0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2476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9481A-E6CD-42CB-897E-4043E40D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E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587A2-C497-48EC-9D43-072C0DD5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765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Analyze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D3678-BD3E-4AD2-A8F0-6F09AA0A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52775"/>
            <a:ext cx="2152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Transcription, sentiment, entities, speaker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18117-3D91-47E7-B1A1-AF473F22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43200"/>
            <a:ext cx="2381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43912-3B72-4A53-968A-BF712DD8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432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6A000-8E5C-42A6-BDE5-5E786D35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765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Summarize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15C7E-92BA-4D90-A2E7-04784368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52775"/>
            <a:ext cx="2057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Groq LLM creates structured clinical summary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8E016-329B-42BF-873E-B37C7094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4320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D8A35-CB3D-4663-88BF-4BF8A739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432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9D5EA-F805-4229-B109-04802B9D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765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174DB-C556-4F79-9767-099C75DA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52775"/>
            <a:ext cx="177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RAG-style Q&amp;A over retrieved transcript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60E42-3DB9-466C-B8C2-C49260AF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73C34-0954-4F39-97DB-EC5F1ACC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862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F84C9-6F1E-4177-9D32-64953DFC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005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B6CFD-8483-4A3A-9F56-B7FF905B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862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350BB-7E81-4672-9D62-D15A2614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785355-9E94-4B4A-ABB4-406E6C59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862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7CD9F-3E8A-42E0-A84A-597B53E3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10826E-6976-43E1-BA6C-0F59C7E0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291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Speech-to-text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E3FFF3-1261-4B2E-B0A8-6FF7F50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434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5F74B2-FB19-42D9-8CFF-7268CEF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291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Whisper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8DBC0-A5FC-443A-A5FF-0249306D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C0F7A6-E493-4FD9-900A-9D9D3B1E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291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Audio converted into transcript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D1A63E-4207-4179-ABA6-3543F9C9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863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DD49A7-174A-4222-B760-57751892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282E39-4514-4276-9427-CF9C343D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86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563414-0102-4A59-A4B1-A5098B13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720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VADER + spaCy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0A09FF-C370-42C4-8EC3-935286E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863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09948E-DF97-4EC7-AA0E-5C6961BC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Sentiment and key entities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3CA462-9E34-40AD-B97C-7A27497D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B8C41C-8083-4EE4-953C-E4010B71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149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ML + retrieval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BC8FE2-07CC-476F-B654-F58EAE62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292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F07A4C-3A1E-45FB-A812-11F84543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149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TF-IDF, Logistic Regression, Sentence Transformers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8A5609-74E3-474B-A22C-A7AE3D08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292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7F6753-4155-4A46-983C-19E2926F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149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Speaker labels and semantic context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6DFCE6-FF46-48BE-8484-D75A8635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7215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FA8450-9D77-4C12-A9E5-4FADF0FB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78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LLM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EC6B73-935F-450D-8C32-F4686308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721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C92D09-FA86-420F-9C89-D2CFFE52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57875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Groq llama-3.3-70b-versatile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2DCC24-6A3E-421C-9825-4957238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721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A29106-79CB-41EF-917C-53B68234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578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Summary, action items, Q&amp;A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E4B018-C5DF-40C2-B1A4-2B79F7DD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2DB3E5-89EE-4414-BA76-F5934C2B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E8FACC-C387-4E3D-A3B2-3A2905F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81272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D86A51-BAA4-49E6-9B2E-FE1C7DAE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1D4F4-A791-4F87-B513-B458C20F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8E5AF667-1F4A-46E0-9004-4C849ECB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F4F02A44-FBF2-4689-9D51-B1167B73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349B6-30BA-43EC-AA6D-3366B9A7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cloud architecture separates browser access, container runtime, AI models, and external LLM calls.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B153F-9649-459C-97AE-71EF7ECC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D18D5-2FF2-47D0-B5A0-47B1673B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3A89F-19F0-4232-BEDB-F762BC24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User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47BFA-E90E-4C2C-86E6-494D8D99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67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Uploads sample clinical conversation and views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32B47-5FAA-4974-A3DE-A6FCDCEC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36ED9D-7730-4D4A-B634-1B64613E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E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1B272-10C3-449E-96A2-5CDC3180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146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AWS EC2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DF6FB-A4BB-49FC-B210-90EDFA2C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90875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Cloud compute instance hosting containerized 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15668-9787-417C-A9B5-25FFBBCD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813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666F4-555B-40F5-A381-956D4966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81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8AD3E-3324-44C2-A95B-F58F349C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146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Docker container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FD9EF-F060-4240-BD88-96C355D8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90875"/>
            <a:ext cx="2057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Python, Streamlit, model dependencies, app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BE556-AC9B-4CE8-BFC9-9A70415A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72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3F9E2-B7B2-45D9-AB24-4D87DC29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1736A-7EB3-4213-BCB5-A7E814C0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AI/NLP pipeline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0CB75-F01B-457C-9EF2-ED93BAB2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90875"/>
            <a:ext cx="2400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Whisper, VADER, spaCy, speaker model, embeddings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CCF2F-9B73-4A2D-88E3-DF9090DD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861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36A67-E1D3-4A67-808C-B2EA14B2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861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E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2B357-C8A7-42F2-9E9B-D6880A42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8612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BFD89-9D81-4304-8B16-A5CDAFC4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7200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EF7E60-D2EA-42F3-9166-05F3776B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006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Groq LLM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E105A-2CF4-4E19-BC52-5BA9340D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CFE2D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CFE2DC"/>
                </a:solidFill>
                <a:latin typeface="Avenir Next"/>
                <a:ea typeface="Avenir Next"/>
                <a:cs typeface="Avenir Next"/>
              </a:rPr>
              <a:t>Summaries and Q&amp;A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33D8E-60AE-4BD8-B1D4-06B305A7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B9D8E-9893-4D4C-A7C0-CCC72ADD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971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Deployment controls: .env secrets, EC2 security group, port 8501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441FFC-85F0-456C-B2D7-D5DB00EB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C6EEB3-078D-40F6-8F51-339A09EC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A52FB-0DF7-44AA-8D03-4304CE49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0031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E82380-E2A3-49F4-A278-9EF2A975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C04F7-1856-4D2D-AABC-A54AF48F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12C8A689-8C13-4552-A1AF-718C8253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F22E4F93-F94B-4E8C-9C19-A9BD1F0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IMPLEMENTATION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1512F-17D4-4622-82DE-155A8155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build turned the NLP prototype into a deployable cloud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3177E-7788-4C64-A5C1-735D6555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266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C2C4F-5F56-45EE-87BF-F9A7EFFA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7A6E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7A6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790F5-5032-4244-9842-2DDFB104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Cleaned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87D3A-5674-417A-BC12-E8C2458E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1752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Renamed interface for clinical conversation intelligence and added privacy note.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EBA66-834B-41F2-ABDF-BF3FF51D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47950"/>
            <a:ext cx="2266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44AF8-11F1-4FFF-A588-D9B1B54C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56E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C56E3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AC1A4-377F-4C4A-B903-9AF5B46F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9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Packaged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9BB0B-E39E-44EF-8B0C-DB1610C3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29050"/>
            <a:ext cx="1752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Added requirements, Dockerfile, .dockerignore, sample data, and .env template.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78D9B-425D-4F52-891F-E3CBA04E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266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F7B36-9092-48C7-B3F8-CB3F9CB7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7A6E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7A6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045AB-F622-4738-A4F8-55F9247C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9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Resolved setup issues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B4927-4DF2-4A2D-9C0C-F8C568FF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1752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Pinned compatible Torch/httpx versions and handled Whisper build isolation.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4AB3B-C09F-4026-B80A-EB35B95A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2266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38A96-18D7-4808-B574-4CA154E7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57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56E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C56E3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B4148-7F52-454A-A818-5686521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09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Prepared EC2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8C9DB-5B55-47D7-845E-FE519677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29050"/>
            <a:ext cx="1752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Documented SSH, file upload, Docker build, container run, and security group setup.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42550-68C9-4A23-814A-CB32084A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Key deployment command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52F76C-4FF9-49E6-ABF5-00944685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942C3-705F-4681-B872-160D5B13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3400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docker run -d --env-file .env -p 8501:8501 --name clinical-app clinical-conversation-analysis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A9879-E615-4EE0-B0D9-9958D41F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48D16C-3626-49AA-9DC3-E2908C63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1F39F3-DDC9-4D52-AED4-465E6C3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05679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02AC7-5C5F-4FAD-B19B-49E01330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096B7-7A7C-41C6-B154-A2744F88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3DA85C6A-C1F6-4533-B2EA-4639CF3E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26AAE872-090B-41DE-94C3-34F4588C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TESTING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611B7-D6FC-46EF-B70E-AA061A42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demo successfully processed audio, produced insights, and generated an LLM clinical summary.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AB4DF-A70A-4F28-86D6-FA8F782A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B95BB-C752-48C5-99CA-A79E8B90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.mp3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5C6D6-CB41-40BC-A84B-68B9F8C9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AUDIO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BE1C1-E293-4211-AE94-72047103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Uploaded clinical visit recording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47045-7985-4295-8FE4-245E129F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E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0C63D-66FD-4033-8901-30B79733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33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-0.989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32DDC-B6FF-4E52-AA71-DBBBE999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71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SENTIMENT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A1E4B-D1FD-4454-9C5E-2130D9E5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623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Negative tone detected in chest-pain conversation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B093C-2806-4E12-81B3-7CFF1656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A3220-FCA5-4CF1-8B2C-9A09859E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B2C9C-2A9A-45E1-899E-5F5BAC84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ENTITY GROUPS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F2883-5EA4-4BCF-87F0-5DBC6AE0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People, organizations, dates, locations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AA819-B293-4516-96C0-CBF7D5B3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ACD74-D61B-4887-9708-7391E3A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Working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E3B6E-0B6F-4854-B5BF-A3136BFB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71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LLM 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C7395-EBEE-4752-A3F4-91E85F2B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Symptoms, actions, decisions, entities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493F0-B3F9-44F2-89EB-55B0985E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9316E-30D1-4969-8AEF-6C14AE39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Feature tested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F295C-FF6E-4EAE-837C-B0E50F93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15EEFB-2666-41C5-905D-F14B500A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814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EE683-1577-4432-A49C-E0FA8B98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231C11-AFB9-44F0-B04B-44325331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8147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 from project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2B50E7-30C6-4D75-AC1F-C61E6EE5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5F4A4D-01D9-436B-B1FD-71C16D61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Whisper transcription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171E5A-EC19-462C-8074-E5A3E3D0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A82CAA-7B07-4CA0-9296-7B289DFE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434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Passed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C94FE7-575F-4915-A1C9-34B0D39A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77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EB614D-8DEF-4B92-BEE4-26E1BA54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434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Audio was converted into a readable visit transcript.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4C6BD4-4441-47E9-A215-F11077D3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AB03D3-1B0F-4B41-8D16-A46F003B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053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Sentiment analysis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472BCF-D0CA-44BB-B6B0-42D74F63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96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8D446B-CA1F-445E-B623-7B745385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053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Passed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41416B-772C-4AFC-AE32-82FA9404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96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B8D88D-795D-44B0-AB91-C1D56BB3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0537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Chest-pain conversation returned strong negative compound score.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0D4676-6D0A-4D1E-8F93-82F7AA05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26D9C0-EC07-4F29-AB89-31F1CED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Entity extraction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AB712C-6A2F-48D7-8E6D-5711088A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81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BDEB2E-F453-4604-8E86-812F88D7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673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Passed with limits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55106D-8292-478E-87F9-86B5B10B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9F37A2-F548-45B8-9B2C-BD923623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673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Detected names, clinic, dates; generic NER created some noisy entities.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8FDD5C-7792-4C7D-B228-D37667C5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13478E-5608-4B5A-BAE3-361C1801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292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LLM summary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B85222-87BC-4A49-A332-FFB99B92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435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AF858A-47C8-49DB-A8B6-D5E5A18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292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Passed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D78A01-986C-42B2-8F49-E90DAFF3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43550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B97EA6-C1C0-4221-BA72-D3C8C08A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2927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Returned symptoms, follow-up needs, decisions, and important entities.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539638-23F4-472B-995A-1FA538BB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BE6203-1AC6-4E24-8A09-3479B0A5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ADDA39-27B3-4E19-9153-5992394D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16110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64847-578B-45A7-B870-3F38CB08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2B1EE-E209-4A6A-88EC-A2466649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5F08F15E-BA8F-4AF3-B2FF-7175A18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1A921F3F-4637-4142-BCC5-0B7731D0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OUTCOME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A3D3A-AEC0-405A-83F1-46BA31DF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app returns a complete analysis view rather than a single model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61F6E-C2B3-4EC0-9913-A0856947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8219D-720A-4377-95F1-4D432EE6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Example outputs from chest-pain visit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683E1-EC37-43A5-B20F-F5BB85EC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6705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8E2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9E8E2"/>
                </a:solidFill>
                <a:latin typeface="Avenir Next"/>
                <a:ea typeface="Avenir Next"/>
                <a:cs typeface="Avenir Next"/>
              </a:rPr>
              <a:t>Patient mentions sharp left-side chest pain, lightheadedness, trouble breathing, palpitations, neck swelling, smoking history, and family history of heart attack.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76D02-3602-4EF7-B193-FDE08F63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3810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BD8C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BBD8CF"/>
                </a:solidFill>
                <a:latin typeface="Avenir Next"/>
                <a:ea typeface="Avenir Next"/>
                <a:cs typeface="Avenir Next"/>
              </a:rPr>
              <a:t>The generated summary organizes this into symptoms, follow-up needs, key decisions, and named entities.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B81DF-3F68-4C67-B589-1D5178D1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1EDC1-1207-4E1E-972D-6B0190E9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Transcript displayed for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6ED97-C75D-4CC9-BBF8-6FC136C5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02B7C-1D53-466B-9DDC-58450E0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Sentiment displayed as a compound score and 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DA7F-7DBE-4046-9EBB-BFFDA6CB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09770-18BB-4A2F-8F5E-B9CF6946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401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Entities grouped into people, organizations, dates, and locations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782F4-C542-4797-BB9D-0EA1E54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D77CF-295F-4BA8-8DB7-DC61FAC0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401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Speaker segmentation and transcript Q&amp;A support fast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34F3E-09DE-4535-9F9A-AA930D83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9BFC6-FD89-425B-A4C3-414AA288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401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LLM summary turns raw transcript into a clinical narrative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68E86-E3FA-46B7-9B7D-D78834C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831B8-FD6D-4E59-B4A4-FD5ECD26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3C12E-2E6C-4348-9038-0B4C2329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34062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9056B-9DC5-48E5-8E0C-C77226B7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7BB70-C258-4B40-B755-B34731CA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2F4CEEA8-9942-4D0C-A1AF-4FF4C2B7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57022D4E-607D-4D81-A30A-428C29CE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EVALUATION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668A3-BCF0-40F4-8635-C21A0D08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project satisfies the cloud assessment by combining practical deployment with technical AI depth.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6B83-8ABA-4B85-9150-7A5D8083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086B3-8E80-422B-9F0A-56F854D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Assessment criterion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85DF1-3DFB-445E-AEED-74455971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3CA4B-1075-401B-86AE-21AF88B6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the final project addresses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A6A84-A084-4F96-867E-B9F7214F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26692-A2FF-49C2-9FE2-7AD07328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Cloud concepts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CD749-3282-4047-A57E-0D49E3F6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CAEB2-49FA-482B-9C99-3E5E9C8E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7177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Docker image prepared for AWS EC2; remote browser access through port 8501; .env secret management.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7FEA2-7F73-4EE2-BCD9-2BFE0FE7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DF791-2276-459B-9BA5-AB9BE1F6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Innovation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B69C4-6CC7-4EA6-85F1-00463B0D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04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CDE58-C4D7-4406-835E-E556791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8612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Combines speech-to-text, sentiment, named entities, speaker classification, semantic retrieval, and LLM summarization.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54DE3-1BED-4413-A780-156A3C41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D0C1C-5592-47DF-9EA9-2167108E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Technical proficiency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C5C84-D0E7-4934-B5C1-271A0C85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62DC4-BBEE-46FF-949E-DE8F261D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0047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Uses Python, Streamlit, Whisper, spaCy, VADER, scikit-learn, Sentence Transformers, Groq API, Docker.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DCD29-5A82-431E-8067-C0D92928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C35CF-6317-472C-981C-133DF332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Execution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97C360-5B45-41B2-BBE1-778E403D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0CADA-FEEB-46E3-95A7-EE3A8589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1482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Built app package, resolved dependency/deployment issues, tested locally and prepared EC2 commands.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10AFF-DD21-438F-B538-DEAA73C1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0D297D-89FF-4961-ABF8-1DA7D0C8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Impact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F08EB-7E38-4DF6-B143-49211143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4345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21D219-FDC6-4C90-AA50-02D2C761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2917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Shows how clinical conversations can become structured insights without manual survey-only evaluation.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BB8FC0-9F54-4C4F-A819-F3059CB4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810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1FF25B-6FD6-4E97-9B7C-43F2BD41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906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Submission angle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FBB060-136D-42F0-8818-63F79DCD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573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Practical cloud project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973FA6-D409-4D95-BE37-CE86D9B0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15AD60-249B-40B0-95C3-FD8482B7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42B901-1AD0-47B8-B374-C572ACB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62632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3CC26B-193B-4DCD-BFDD-4194E802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06485-5967-46F6-87D1-C77F88FC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F3767222-2D8F-48E7-B55F-268E7148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9DD63AFD-E584-4647-AF90-D9F7B3E2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LIMITS AND FUTURE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637CC-C5BD-4A10-B5D9-4F51A538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prototype works for demonstration, but production healthcare use would require stronger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9B6F3-528F-4C07-9F25-1C52061A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936DB-42FD-498E-A694-42058389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Current 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4C268-F2B7-479A-A42A-86725AE0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11BDD-2460-4DB7-9079-7312A8E1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Uses synthetic or de-identified sample conversations 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5C4A7-C212-46F7-84C9-D636823F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1F2E7-D843-43ED-9848-63DD8444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Speaker classifier is trained on a very small example 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82245-6403-4BB0-BE02-5074733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4B4E9-0058-477C-86E3-1CB2DBF8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05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Generic spaCy NER can detect noisy healthcare entities.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03CD0-5B83-4668-9A51-A0448A3D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1CF69-FD9D-4349-B504-44DC940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670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Future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983B6-B992-4822-999A-EA08EFB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38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C91F4-4A61-4DD0-80E3-AB660B07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Authentication, encryption, and audit logging.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BAA40-F83F-4DC5-A905-C5493B51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71A9F-29D9-4AB8-9B8F-704546FB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HIPAA-aware storage and access-control design.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23177-A857-4B6A-BC52-7360001B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81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AC14C-2450-4354-BC8B-FC70E25F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Clinical NER model and larger speaker-role dataset.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7BC10-6840-422D-B62D-9BF795EE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9B7CB-FFC3-45F4-A667-766B12A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A84BD-B265-41BC-B7A3-062248D5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82387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9AFF75-12A0-4288-BDAD-90D976A7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801D1-C41A-4281-AA7A-6965347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722DE-7421-4D40-9606-A22D8609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BBAF4-0BE6-4DF7-B228-1D7A6373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8001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final outcome is a working cloud-ready AI healthcare conversation analysis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D5168-F9C6-4C96-A401-33C69AAB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The project bridges clinical conversation data and healthcare intelligence by combining NLP, machine learning, LLM APIs, Docker packaging, and AWS EC2 deployment planning.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F0D33-E52D-4B76-B7F7-751AE1E0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04900"/>
            <a:ext cx="2333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F18A3-4E43-4E14-BED2-E52C9D89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Final deliverables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B5E11-44C1-4F55-BE5C-B91BFF1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21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Streamlit app</a:t>
            </a:r>
          </a:p>
          <a:p xmlns:a="http://schemas.openxmlformats.org/drawingml/2006/main"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Dockerfile</a:t>
            </a:r>
          </a:p>
          <a:p xmlns:a="http://schemas.openxmlformats.org/drawingml/2006/main"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EC2 deployment guide</a:t>
            </a:r>
          </a:p>
          <a:p xmlns:a="http://schemas.openxmlformats.org/drawingml/2006/main"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Project proposal</a:t>
            </a:r>
          </a:p>
          <a:p xmlns:a="http://schemas.openxmlformats.org/drawingml/2006/main"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Final demo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10899-C137-45E0-A145-9AC552CD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48CCE-6345-4FB2-93D8-C6E2BCA6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Accessible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4560A-4719-46DE-B150-E6CA901F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CLOUD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064E5-D7D5-4701-BF2E-051B2E46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Browser-based interface for remote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6C1DB-0B1D-41A6-8C3C-93FD2E2E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E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416A3-B85E-482A-B9EE-92615477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62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Integrated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5752-CE02-40FB-811E-8CCA1038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00675"/>
            <a:ext cx="2428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AI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491F3-B341-4FF5-8BEF-6CD62896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91175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Speech, NLP, retrieval, and LLM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EFE03-D897-4F2F-AF9E-6327074D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1012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7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9B2DD-4EC6-419B-9D93-D8DC14BB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62525"/>
            <a:ext cx="2428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Useful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3DF08-FF99-4F72-946B-81CDA829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400675"/>
            <a:ext cx="2428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17BF6-A983-418A-AC5F-A9576F4F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91175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Faster review of conversation insights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86C3B-B599-45A7-86E4-AD8C2B84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612BE1-4D63-4932-9B49-54583612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Final project outcome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9B960-ADD8-4EA4-B493-E8974566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341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7230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2026-05-05T02:38:22.8110000Z</dcterms:created>
  <dcterms:modified xsi:type="dcterms:W3CDTF">2026-05-05T02:38:22.8110000Z</dcterms:modified>
</coreProperties>
</file>